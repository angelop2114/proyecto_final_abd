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8288000" cy="10287000"/>
  <p:notesSz cx="6858000" cy="9144000"/>
  <p:embeddedFontLst>
    <p:embeddedFont>
      <p:font typeface="Noto Sans" panose="020B0502040504020204" pitchFamily="34" charset="0"/>
      <p:regular r:id="rId14"/>
      <p:bold r:id="rId15"/>
      <p:italic r:id="rId16"/>
      <p:boldItalic r:id="rId17"/>
    </p:embeddedFont>
    <p:embeddedFont>
      <p:font typeface="Roboto Condensed" panose="02000000000000000000" pitchFamily="2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87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ED4F3-F4CF-4784-BA7F-35228F6F746A}" type="datetimeFigureOut">
              <a:rPr lang="es-EC" smtClean="0"/>
              <a:t>9/9/2026</a:t>
            </a:fld>
            <a:endParaRPr lang="es-EC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C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31A4D3-AB62-4EC0-97A2-0E053AA6F0B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097883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31A4D3-AB62-4EC0-97A2-0E053AA6F0BB}" type="slidenum">
              <a:rPr lang="es-EC" smtClean="0"/>
              <a:t>8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077802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31A4D3-AB62-4EC0-97A2-0E053AA6F0BB}" type="slidenum">
              <a:rPr lang="es-EC" smtClean="0"/>
              <a:t>9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95122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42947" y="5447952"/>
            <a:ext cx="4154299" cy="3981790"/>
            <a:chOff x="0" y="0"/>
            <a:chExt cx="1883880" cy="18056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83880" cy="1805651"/>
            </a:xfrm>
            <a:custGeom>
              <a:avLst/>
              <a:gdLst/>
              <a:ahLst/>
              <a:cxnLst/>
              <a:rect l="l" t="t" r="r" b="b"/>
              <a:pathLst>
                <a:path w="1883880" h="1805651">
                  <a:moveTo>
                    <a:pt x="18636" y="0"/>
                  </a:moveTo>
                  <a:lnTo>
                    <a:pt x="1865244" y="0"/>
                  </a:lnTo>
                  <a:cubicBezTo>
                    <a:pt x="1870186" y="0"/>
                    <a:pt x="1874926" y="1963"/>
                    <a:pt x="1878421" y="5458"/>
                  </a:cubicBezTo>
                  <a:cubicBezTo>
                    <a:pt x="1881916" y="8953"/>
                    <a:pt x="1883880" y="13693"/>
                    <a:pt x="1883880" y="18636"/>
                  </a:cubicBezTo>
                  <a:lnTo>
                    <a:pt x="1883880" y="1787015"/>
                  </a:lnTo>
                  <a:cubicBezTo>
                    <a:pt x="1883880" y="1791958"/>
                    <a:pt x="1881916" y="1796698"/>
                    <a:pt x="1878421" y="1800193"/>
                  </a:cubicBezTo>
                  <a:cubicBezTo>
                    <a:pt x="1874926" y="1803688"/>
                    <a:pt x="1870186" y="1805651"/>
                    <a:pt x="1865244" y="1805651"/>
                  </a:cubicBezTo>
                  <a:lnTo>
                    <a:pt x="18636" y="1805651"/>
                  </a:lnTo>
                  <a:cubicBezTo>
                    <a:pt x="13693" y="1805651"/>
                    <a:pt x="8953" y="1803688"/>
                    <a:pt x="5458" y="1800193"/>
                  </a:cubicBezTo>
                  <a:cubicBezTo>
                    <a:pt x="1963" y="1796698"/>
                    <a:pt x="0" y="1791958"/>
                    <a:pt x="0" y="1787015"/>
                  </a:cubicBezTo>
                  <a:lnTo>
                    <a:pt x="0" y="18636"/>
                  </a:lnTo>
                  <a:cubicBezTo>
                    <a:pt x="0" y="13693"/>
                    <a:pt x="1963" y="8953"/>
                    <a:pt x="5458" y="5458"/>
                  </a:cubicBezTo>
                  <a:cubicBezTo>
                    <a:pt x="8953" y="1963"/>
                    <a:pt x="13693" y="0"/>
                    <a:pt x="18636" y="0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883880" cy="18532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384494" y="6023977"/>
            <a:ext cx="3091282" cy="3711929"/>
            <a:chOff x="0" y="0"/>
            <a:chExt cx="1401826" cy="16832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01826" cy="1683275"/>
            </a:xfrm>
            <a:custGeom>
              <a:avLst/>
              <a:gdLst/>
              <a:ahLst/>
              <a:cxnLst/>
              <a:rect l="l" t="t" r="r" b="b"/>
              <a:pathLst>
                <a:path w="1401826" h="1683275">
                  <a:moveTo>
                    <a:pt x="25044" y="0"/>
                  </a:moveTo>
                  <a:lnTo>
                    <a:pt x="1376782" y="0"/>
                  </a:lnTo>
                  <a:cubicBezTo>
                    <a:pt x="1390613" y="0"/>
                    <a:pt x="1401826" y="11213"/>
                    <a:pt x="1401826" y="25044"/>
                  </a:cubicBezTo>
                  <a:lnTo>
                    <a:pt x="1401826" y="1658231"/>
                  </a:lnTo>
                  <a:cubicBezTo>
                    <a:pt x="1401826" y="1664873"/>
                    <a:pt x="1399188" y="1671243"/>
                    <a:pt x="1394491" y="1675940"/>
                  </a:cubicBezTo>
                  <a:cubicBezTo>
                    <a:pt x="1389794" y="1680637"/>
                    <a:pt x="1383424" y="1683275"/>
                    <a:pt x="1376782" y="1683275"/>
                  </a:cubicBezTo>
                  <a:lnTo>
                    <a:pt x="25044" y="1683275"/>
                  </a:lnTo>
                  <a:cubicBezTo>
                    <a:pt x="11213" y="1683275"/>
                    <a:pt x="0" y="1672063"/>
                    <a:pt x="0" y="1658231"/>
                  </a:cubicBezTo>
                  <a:lnTo>
                    <a:pt x="0" y="25044"/>
                  </a:lnTo>
                  <a:cubicBezTo>
                    <a:pt x="0" y="11213"/>
                    <a:pt x="11213" y="0"/>
                    <a:pt x="2504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401826" cy="173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801547" y="282779"/>
            <a:ext cx="6248942" cy="884088"/>
            <a:chOff x="0" y="0"/>
            <a:chExt cx="2833753" cy="4009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33753" cy="400914"/>
            </a:xfrm>
            <a:custGeom>
              <a:avLst/>
              <a:gdLst/>
              <a:ahLst/>
              <a:cxnLst/>
              <a:rect l="l" t="t" r="r" b="b"/>
              <a:pathLst>
                <a:path w="2833753" h="400914">
                  <a:moveTo>
                    <a:pt x="12389" y="0"/>
                  </a:moveTo>
                  <a:lnTo>
                    <a:pt x="2821363" y="0"/>
                  </a:lnTo>
                  <a:cubicBezTo>
                    <a:pt x="2828206" y="0"/>
                    <a:pt x="2833753" y="5547"/>
                    <a:pt x="2833753" y="12389"/>
                  </a:cubicBezTo>
                  <a:lnTo>
                    <a:pt x="2833753" y="388525"/>
                  </a:lnTo>
                  <a:cubicBezTo>
                    <a:pt x="2833753" y="395367"/>
                    <a:pt x="2828206" y="400914"/>
                    <a:pt x="2821363" y="400914"/>
                  </a:cubicBezTo>
                  <a:lnTo>
                    <a:pt x="12389" y="400914"/>
                  </a:lnTo>
                  <a:cubicBezTo>
                    <a:pt x="5547" y="400914"/>
                    <a:pt x="0" y="395367"/>
                    <a:pt x="0" y="388525"/>
                  </a:cubicBezTo>
                  <a:lnTo>
                    <a:pt x="0" y="12389"/>
                  </a:lnTo>
                  <a:cubicBezTo>
                    <a:pt x="0" y="5547"/>
                    <a:pt x="5547" y="0"/>
                    <a:pt x="12389" y="0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833753" cy="448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310066" y="282779"/>
            <a:ext cx="1949234" cy="598335"/>
            <a:chOff x="0" y="0"/>
            <a:chExt cx="883933" cy="27133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83933" cy="271331"/>
            </a:xfrm>
            <a:custGeom>
              <a:avLst/>
              <a:gdLst/>
              <a:ahLst/>
              <a:cxnLst/>
              <a:rect l="l" t="t" r="r" b="b"/>
              <a:pathLst>
                <a:path w="883933" h="271331">
                  <a:moveTo>
                    <a:pt x="39718" y="0"/>
                  </a:moveTo>
                  <a:lnTo>
                    <a:pt x="844215" y="0"/>
                  </a:lnTo>
                  <a:cubicBezTo>
                    <a:pt x="866151" y="0"/>
                    <a:pt x="883933" y="17782"/>
                    <a:pt x="883933" y="39718"/>
                  </a:cubicBezTo>
                  <a:lnTo>
                    <a:pt x="883933" y="231614"/>
                  </a:lnTo>
                  <a:cubicBezTo>
                    <a:pt x="883933" y="253549"/>
                    <a:pt x="866151" y="271331"/>
                    <a:pt x="844215" y="271331"/>
                  </a:cubicBezTo>
                  <a:lnTo>
                    <a:pt x="39718" y="271331"/>
                  </a:lnTo>
                  <a:cubicBezTo>
                    <a:pt x="29184" y="271331"/>
                    <a:pt x="19082" y="267147"/>
                    <a:pt x="11633" y="259698"/>
                  </a:cubicBezTo>
                  <a:cubicBezTo>
                    <a:pt x="4185" y="252250"/>
                    <a:pt x="0" y="242147"/>
                    <a:pt x="0" y="231614"/>
                  </a:cubicBezTo>
                  <a:lnTo>
                    <a:pt x="0" y="39718"/>
                  </a:lnTo>
                  <a:cubicBezTo>
                    <a:pt x="0" y="29184"/>
                    <a:pt x="4185" y="19082"/>
                    <a:pt x="11633" y="11633"/>
                  </a:cubicBezTo>
                  <a:cubicBezTo>
                    <a:pt x="19082" y="4185"/>
                    <a:pt x="29184" y="0"/>
                    <a:pt x="3971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883933" cy="318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1170071">
            <a:off x="9829464" y="3098927"/>
            <a:ext cx="12709916" cy="5785128"/>
            <a:chOff x="0" y="0"/>
            <a:chExt cx="892860" cy="406400"/>
          </a:xfrm>
        </p:grpSpPr>
        <p:sp>
          <p:nvSpPr>
            <p:cNvPr id="15" name="Freeform 15"/>
            <p:cNvSpPr/>
            <p:nvPr/>
          </p:nvSpPr>
          <p:spPr>
            <a:xfrm rot="-1167245">
              <a:off x="13830" y="-81065"/>
              <a:ext cx="865201" cy="568530"/>
            </a:xfrm>
            <a:custGeom>
              <a:avLst/>
              <a:gdLst/>
              <a:ahLst/>
              <a:cxnLst/>
              <a:rect l="l" t="t" r="r" b="b"/>
              <a:pathLst>
                <a:path w="865201" h="568530">
                  <a:moveTo>
                    <a:pt x="729620" y="173674"/>
                  </a:moveTo>
                  <a:cubicBezTo>
                    <a:pt x="835442" y="211052"/>
                    <a:pt x="890921" y="327127"/>
                    <a:pt x="853543" y="432949"/>
                  </a:cubicBezTo>
                  <a:cubicBezTo>
                    <a:pt x="816164" y="538772"/>
                    <a:pt x="700090" y="594250"/>
                    <a:pt x="594268" y="556872"/>
                  </a:cubicBezTo>
                  <a:lnTo>
                    <a:pt x="135580" y="394856"/>
                  </a:lnTo>
                  <a:cubicBezTo>
                    <a:pt x="29758" y="357478"/>
                    <a:pt x="-25721" y="241403"/>
                    <a:pt x="11657" y="135581"/>
                  </a:cubicBezTo>
                  <a:cubicBezTo>
                    <a:pt x="49036" y="29758"/>
                    <a:pt x="165110" y="-25720"/>
                    <a:pt x="270932" y="11658"/>
                  </a:cubicBezTo>
                  <a:lnTo>
                    <a:pt x="729620" y="173674"/>
                  </a:lnTo>
                </a:path>
              </a:pathLst>
            </a:custGeom>
            <a:blipFill>
              <a:blip r:embed="rId2"/>
              <a:stretch>
                <a:fillRect l="-12612" t="-17307" r="-5328" b="-2349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 rot="629163">
            <a:off x="10057710" y="2436773"/>
            <a:ext cx="12438391" cy="6219195"/>
            <a:chOff x="0" y="0"/>
            <a:chExt cx="812800" cy="406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812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661303" y="2893056"/>
            <a:ext cx="8140244" cy="1621446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13251"/>
              </a:lnSpc>
              <a:spcBef>
                <a:spcPct val="0"/>
              </a:spcBef>
            </a:pPr>
            <a:r>
              <a:rPr sz="8400" b="1">
                <a:solidFill>
                  <a:srgbClr val="FFFFFF"/>
                </a:solidFill>
                <a:latin typeface="Roboto Condensed"/>
              </a:rPr>
              <a:t>RESTAUSTOCK IA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1649759"/>
            <a:ext cx="5740324" cy="490822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sz="2600">
                <a:solidFill>
                  <a:srgbClr val="CCFFE2"/>
                </a:solidFill>
                <a:latin typeface="Noto Sans"/>
              </a:rPr>
              <a:t>PROYECTO FINAL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42947" y="5457775"/>
            <a:ext cx="4154299" cy="3789055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4291"/>
              </a:lnSpc>
            </a:pPr>
            <a:r>
              <a:rPr sz="2400" b="1" dirty="0" err="1">
                <a:solidFill>
                  <a:srgbClr val="FFFFFF"/>
                </a:solidFill>
                <a:latin typeface="Noto Sans"/>
              </a:rPr>
              <a:t>Integrantes</a:t>
            </a:r>
            <a:r>
              <a:rPr sz="2400" b="1" dirty="0">
                <a:solidFill>
                  <a:srgbClr val="FFFFFF"/>
                </a:solidFill>
                <a:latin typeface="Noto Sans"/>
              </a:rPr>
              <a:t>:</a:t>
            </a:r>
          </a:p>
          <a:p>
            <a:pPr algn="ctr"/>
            <a:r>
              <a:rPr sz="2400" dirty="0">
                <a:solidFill>
                  <a:srgbClr val="FFFFFF"/>
                </a:solidFill>
                <a:latin typeface="Noto Sans"/>
              </a:rPr>
              <a:t>CONTRERAS CHÁVEZ</a:t>
            </a:r>
          </a:p>
          <a:p>
            <a:pPr algn="ctr"/>
            <a:r>
              <a:rPr sz="2400" dirty="0">
                <a:solidFill>
                  <a:srgbClr val="FFFFFF"/>
                </a:solidFill>
                <a:latin typeface="Noto Sans"/>
              </a:rPr>
              <a:t>KEVIN GERMÁN</a:t>
            </a:r>
            <a:endParaRPr lang="es-MX" sz="2400" dirty="0">
              <a:solidFill>
                <a:srgbClr val="FFFFFF"/>
              </a:solidFill>
              <a:latin typeface="Noto Sans"/>
            </a:endParaRPr>
          </a:p>
          <a:p>
            <a:pPr algn="ctr"/>
            <a:endParaRPr sz="2400" dirty="0">
              <a:solidFill>
                <a:srgbClr val="FFFFFF"/>
              </a:solidFill>
              <a:latin typeface="Noto Sans"/>
            </a:endParaRPr>
          </a:p>
          <a:p>
            <a:pPr algn="ctr"/>
            <a:r>
              <a:rPr sz="2400" dirty="0">
                <a:solidFill>
                  <a:srgbClr val="FFFFFF"/>
                </a:solidFill>
                <a:latin typeface="Noto Sans"/>
              </a:rPr>
              <a:t>MORÁN PILAGUANO</a:t>
            </a:r>
          </a:p>
          <a:p>
            <a:pPr algn="ctr"/>
            <a:r>
              <a:rPr sz="2400" dirty="0">
                <a:solidFill>
                  <a:srgbClr val="FFFFFF"/>
                </a:solidFill>
                <a:latin typeface="Noto Sans"/>
              </a:rPr>
              <a:t>FRIXON FERNANDO</a:t>
            </a:r>
            <a:endParaRPr lang="es-MX" sz="2400" dirty="0">
              <a:solidFill>
                <a:srgbClr val="FFFFFF"/>
              </a:solidFill>
              <a:latin typeface="Noto Sans"/>
            </a:endParaRPr>
          </a:p>
          <a:p>
            <a:pPr algn="ctr"/>
            <a:endParaRPr sz="2400" dirty="0">
              <a:solidFill>
                <a:srgbClr val="FFFFFF"/>
              </a:solidFill>
              <a:latin typeface="Noto Sans"/>
            </a:endParaRPr>
          </a:p>
          <a:p>
            <a:pPr algn="ctr"/>
            <a:r>
              <a:rPr sz="2400" dirty="0">
                <a:solidFill>
                  <a:srgbClr val="FFFFFF"/>
                </a:solidFill>
                <a:latin typeface="Noto Sans"/>
              </a:rPr>
              <a:t>ZAMBRANO MOYA</a:t>
            </a:r>
          </a:p>
          <a:p>
            <a:pPr algn="ctr"/>
            <a:r>
              <a:rPr sz="2400" dirty="0">
                <a:solidFill>
                  <a:srgbClr val="FFFFFF"/>
                </a:solidFill>
                <a:latin typeface="Noto Sans"/>
              </a:rPr>
              <a:t>ANGELO PAUL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614277" y="6255495"/>
            <a:ext cx="2631715" cy="3191742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sz="2000" b="1">
                <a:solidFill>
                  <a:srgbClr val="000000"/>
                </a:solidFill>
                <a:latin typeface="Noto Sans"/>
              </a:rPr>
              <a:t>PostgreSQL · Node.js + Express · Seguridad por roles · Auditoría · Respaldos · Índices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373032"/>
            <a:ext cx="5599828" cy="412817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sz="2200" b="1">
                <a:solidFill>
                  <a:srgbClr val="D2FFE7"/>
                </a:solidFill>
                <a:latin typeface="Roboto Condensed"/>
              </a:rPr>
              <a:t>UNIVERSIDAD TÉCNICA ESTATAL DE QUEVEDO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097390" y="476008"/>
            <a:ext cx="5657255" cy="440481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3544"/>
              </a:lnSpc>
              <a:spcBef>
                <a:spcPct val="0"/>
              </a:spcBef>
            </a:pPr>
            <a:r>
              <a:rPr sz="2100">
                <a:solidFill>
                  <a:srgbClr val="FFFFFF"/>
                </a:solidFill>
                <a:latin typeface="Noto Sans"/>
              </a:rPr>
              <a:t>Administración de Bases de Datos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611011" y="400019"/>
            <a:ext cx="1347345" cy="31623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sz="1500">
                <a:solidFill>
                  <a:srgbClr val="000000"/>
                </a:solidFill>
                <a:latin typeface="Noto Sans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28122" y="282779"/>
            <a:ext cx="5922367" cy="598335"/>
            <a:chOff x="0" y="0"/>
            <a:chExt cx="2685658" cy="2713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85658" cy="271331"/>
            </a:xfrm>
            <a:custGeom>
              <a:avLst/>
              <a:gdLst/>
              <a:ahLst/>
              <a:cxnLst/>
              <a:rect l="l" t="t" r="r" b="b"/>
              <a:pathLst>
                <a:path w="2685658" h="271331">
                  <a:moveTo>
                    <a:pt x="13072" y="0"/>
                  </a:moveTo>
                  <a:lnTo>
                    <a:pt x="2672586" y="0"/>
                  </a:lnTo>
                  <a:cubicBezTo>
                    <a:pt x="2679805" y="0"/>
                    <a:pt x="2685658" y="5853"/>
                    <a:pt x="2685658" y="13072"/>
                  </a:cubicBezTo>
                  <a:lnTo>
                    <a:pt x="2685658" y="258259"/>
                  </a:lnTo>
                  <a:cubicBezTo>
                    <a:pt x="2685658" y="265479"/>
                    <a:pt x="2679805" y="271331"/>
                    <a:pt x="2672586" y="271331"/>
                  </a:cubicBezTo>
                  <a:lnTo>
                    <a:pt x="13072" y="271331"/>
                  </a:lnTo>
                  <a:cubicBezTo>
                    <a:pt x="5853" y="271331"/>
                    <a:pt x="0" y="265479"/>
                    <a:pt x="0" y="258259"/>
                  </a:cubicBezTo>
                  <a:lnTo>
                    <a:pt x="0" y="13072"/>
                  </a:lnTo>
                  <a:cubicBezTo>
                    <a:pt x="0" y="5853"/>
                    <a:pt x="5853" y="0"/>
                    <a:pt x="13072" y="0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685658" cy="318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310066" y="282779"/>
            <a:ext cx="1949234" cy="598335"/>
            <a:chOff x="0" y="0"/>
            <a:chExt cx="883933" cy="2713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83933" cy="271331"/>
            </a:xfrm>
            <a:custGeom>
              <a:avLst/>
              <a:gdLst/>
              <a:ahLst/>
              <a:cxnLst/>
              <a:rect l="l" t="t" r="r" b="b"/>
              <a:pathLst>
                <a:path w="883933" h="271331">
                  <a:moveTo>
                    <a:pt x="39718" y="0"/>
                  </a:moveTo>
                  <a:lnTo>
                    <a:pt x="844215" y="0"/>
                  </a:lnTo>
                  <a:cubicBezTo>
                    <a:pt x="866151" y="0"/>
                    <a:pt x="883933" y="17782"/>
                    <a:pt x="883933" y="39718"/>
                  </a:cubicBezTo>
                  <a:lnTo>
                    <a:pt x="883933" y="231614"/>
                  </a:lnTo>
                  <a:cubicBezTo>
                    <a:pt x="883933" y="253549"/>
                    <a:pt x="866151" y="271331"/>
                    <a:pt x="844215" y="271331"/>
                  </a:cubicBezTo>
                  <a:lnTo>
                    <a:pt x="39718" y="271331"/>
                  </a:lnTo>
                  <a:cubicBezTo>
                    <a:pt x="29184" y="271331"/>
                    <a:pt x="19082" y="267147"/>
                    <a:pt x="11633" y="259698"/>
                  </a:cubicBezTo>
                  <a:cubicBezTo>
                    <a:pt x="4185" y="252250"/>
                    <a:pt x="0" y="242147"/>
                    <a:pt x="0" y="231614"/>
                  </a:cubicBezTo>
                  <a:lnTo>
                    <a:pt x="0" y="39718"/>
                  </a:lnTo>
                  <a:cubicBezTo>
                    <a:pt x="0" y="29184"/>
                    <a:pt x="4185" y="19082"/>
                    <a:pt x="11633" y="11633"/>
                  </a:cubicBezTo>
                  <a:cubicBezTo>
                    <a:pt x="19082" y="4185"/>
                    <a:pt x="29184" y="0"/>
                    <a:pt x="3971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883933" cy="318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1741667"/>
            <a:ext cx="8420205" cy="3531855"/>
            <a:chOff x="0" y="0"/>
            <a:chExt cx="1304510" cy="54717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04510" cy="547177"/>
            </a:xfrm>
            <a:custGeom>
              <a:avLst/>
              <a:gdLst/>
              <a:ahLst/>
              <a:cxnLst/>
              <a:rect l="l" t="t" r="r" b="b"/>
              <a:pathLst>
                <a:path w="1304510" h="547177">
                  <a:moveTo>
                    <a:pt x="21147" y="0"/>
                  </a:moveTo>
                  <a:lnTo>
                    <a:pt x="1283363" y="0"/>
                  </a:lnTo>
                  <a:cubicBezTo>
                    <a:pt x="1295042" y="0"/>
                    <a:pt x="1304510" y="9468"/>
                    <a:pt x="1304510" y="21147"/>
                  </a:cubicBezTo>
                  <a:lnTo>
                    <a:pt x="1304510" y="526030"/>
                  </a:lnTo>
                  <a:cubicBezTo>
                    <a:pt x="1304510" y="537709"/>
                    <a:pt x="1295042" y="547177"/>
                    <a:pt x="1283363" y="547177"/>
                  </a:cubicBezTo>
                  <a:lnTo>
                    <a:pt x="21147" y="547177"/>
                  </a:lnTo>
                  <a:cubicBezTo>
                    <a:pt x="9468" y="547177"/>
                    <a:pt x="0" y="537709"/>
                    <a:pt x="0" y="526030"/>
                  </a:cubicBezTo>
                  <a:lnTo>
                    <a:pt x="0" y="21147"/>
                  </a:lnTo>
                  <a:cubicBezTo>
                    <a:pt x="0" y="9468"/>
                    <a:pt x="9468" y="0"/>
                    <a:pt x="21147" y="0"/>
                  </a:cubicBezTo>
                  <a:close/>
                </a:path>
              </a:pathLst>
            </a:custGeom>
            <a:blipFill>
              <a:blip r:embed="rId2"/>
              <a:stretch>
                <a:fillRect l="-13032" r="-13032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473979" y="5726445"/>
            <a:ext cx="8420205" cy="3531855"/>
            <a:chOff x="0" y="0"/>
            <a:chExt cx="1304510" cy="54717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04510" cy="547177"/>
            </a:xfrm>
            <a:custGeom>
              <a:avLst/>
              <a:gdLst/>
              <a:ahLst/>
              <a:cxnLst/>
              <a:rect l="l" t="t" r="r" b="b"/>
              <a:pathLst>
                <a:path w="1304510" h="547177">
                  <a:moveTo>
                    <a:pt x="21147" y="0"/>
                  </a:moveTo>
                  <a:lnTo>
                    <a:pt x="1283363" y="0"/>
                  </a:lnTo>
                  <a:cubicBezTo>
                    <a:pt x="1295042" y="0"/>
                    <a:pt x="1304510" y="9468"/>
                    <a:pt x="1304510" y="21147"/>
                  </a:cubicBezTo>
                  <a:lnTo>
                    <a:pt x="1304510" y="526030"/>
                  </a:lnTo>
                  <a:cubicBezTo>
                    <a:pt x="1304510" y="537709"/>
                    <a:pt x="1295042" y="547177"/>
                    <a:pt x="1283363" y="547177"/>
                  </a:cubicBezTo>
                  <a:lnTo>
                    <a:pt x="21147" y="547177"/>
                  </a:lnTo>
                  <a:cubicBezTo>
                    <a:pt x="9468" y="547177"/>
                    <a:pt x="0" y="537709"/>
                    <a:pt x="0" y="526030"/>
                  </a:cubicBezTo>
                  <a:lnTo>
                    <a:pt x="0" y="21147"/>
                  </a:lnTo>
                  <a:cubicBezTo>
                    <a:pt x="0" y="9468"/>
                    <a:pt x="9468" y="0"/>
                    <a:pt x="21147" y="0"/>
                  </a:cubicBezTo>
                  <a:close/>
                </a:path>
              </a:pathLst>
            </a:custGeom>
            <a:blipFill>
              <a:blip r:embed="rId3"/>
              <a:stretch>
                <a:fillRect t="-128643" b="-128643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1068394" y="1646417"/>
            <a:ext cx="5563271" cy="820989"/>
          </a:xfrm>
          <a:prstGeom prst="rect">
            <a:avLst/>
          </a:prstGeom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sz="4600" b="1" dirty="0">
                <a:solidFill>
                  <a:srgbClr val="D0FFE3"/>
                </a:solidFill>
                <a:latin typeface="Roboto Condensed"/>
              </a:rPr>
              <a:t>PROBLEMA Y OBJETIVOS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01400" y="7035129"/>
            <a:ext cx="6629399" cy="2223171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dirty="0" err="1">
                <a:solidFill>
                  <a:srgbClr val="F0F0F5"/>
                </a:solidFill>
                <a:latin typeface="Noto Sans"/>
              </a:rPr>
              <a:t>Desarrollar</a:t>
            </a:r>
            <a:r>
              <a:rPr dirty="0">
                <a:solidFill>
                  <a:srgbClr val="F0F0F5"/>
                </a:solidFill>
                <a:latin typeface="Noto Sans"/>
              </a:rPr>
              <a:t> una </a:t>
            </a:r>
            <a:r>
              <a:rPr dirty="0" err="1">
                <a:solidFill>
                  <a:srgbClr val="F0F0F5"/>
                </a:solidFill>
                <a:latin typeface="Noto Sans"/>
              </a:rPr>
              <a:t>aplicación</a:t>
            </a:r>
            <a:r>
              <a:rPr dirty="0">
                <a:solidFill>
                  <a:srgbClr val="F0F0F5"/>
                </a:solidFill>
                <a:latin typeface="Noto Sans"/>
              </a:rPr>
              <a:t> web </a:t>
            </a:r>
            <a:r>
              <a:rPr dirty="0" err="1">
                <a:solidFill>
                  <a:srgbClr val="F0F0F5"/>
                </a:solidFill>
                <a:latin typeface="Noto Sans"/>
              </a:rPr>
              <a:t>conectada</a:t>
            </a:r>
            <a:r>
              <a:rPr dirty="0">
                <a:solidFill>
                  <a:srgbClr val="F0F0F5"/>
                </a:solidFill>
                <a:latin typeface="Noto Sans"/>
              </a:rPr>
              <a:t> a PostgreSQL que </a:t>
            </a:r>
            <a:r>
              <a:rPr dirty="0" err="1">
                <a:solidFill>
                  <a:srgbClr val="F0F0F5"/>
                </a:solidFill>
                <a:latin typeface="Noto Sans"/>
              </a:rPr>
              <a:t>centralice</a:t>
            </a:r>
            <a:r>
              <a:rPr dirty="0">
                <a:solidFill>
                  <a:srgbClr val="F0F0F5"/>
                </a:solidFill>
                <a:latin typeface="Noto Sans"/>
              </a:rPr>
              <a:t> la </a:t>
            </a:r>
            <a:r>
              <a:rPr dirty="0" err="1">
                <a:solidFill>
                  <a:srgbClr val="F0F0F5"/>
                </a:solidFill>
                <a:latin typeface="Noto Sans"/>
              </a:rPr>
              <a:t>operación</a:t>
            </a:r>
            <a:r>
              <a:rPr dirty="0">
                <a:solidFill>
                  <a:srgbClr val="F0F0F5"/>
                </a:solidFill>
                <a:latin typeface="Noto Sans"/>
              </a:rPr>
              <a:t> del </a:t>
            </a:r>
            <a:r>
              <a:rPr dirty="0" err="1">
                <a:solidFill>
                  <a:srgbClr val="F0F0F5"/>
                </a:solidFill>
                <a:latin typeface="Noto Sans"/>
              </a:rPr>
              <a:t>restaurante</a:t>
            </a:r>
            <a:r>
              <a:rPr dirty="0">
                <a:solidFill>
                  <a:srgbClr val="F0F0F5"/>
                </a:solidFill>
                <a:latin typeface="Noto Sans"/>
              </a:rPr>
              <a:t> y </a:t>
            </a:r>
            <a:r>
              <a:rPr dirty="0" err="1">
                <a:solidFill>
                  <a:srgbClr val="F0F0F5"/>
                </a:solidFill>
                <a:latin typeface="Noto Sans"/>
              </a:rPr>
              <a:t>demuestre</a:t>
            </a:r>
            <a:r>
              <a:rPr dirty="0">
                <a:solidFill>
                  <a:srgbClr val="F0F0F5"/>
                </a:solidFill>
                <a:latin typeface="Noto Sans"/>
              </a:rPr>
              <a:t> </a:t>
            </a:r>
            <a:r>
              <a:rPr dirty="0" err="1">
                <a:solidFill>
                  <a:srgbClr val="F0F0F5"/>
                </a:solidFill>
                <a:latin typeface="Noto Sans"/>
              </a:rPr>
              <a:t>administración</a:t>
            </a:r>
            <a:r>
              <a:rPr dirty="0">
                <a:solidFill>
                  <a:srgbClr val="F0F0F5"/>
                </a:solidFill>
                <a:latin typeface="Noto Sans"/>
              </a:rPr>
              <a:t> </a:t>
            </a:r>
            <a:r>
              <a:rPr dirty="0" err="1">
                <a:solidFill>
                  <a:srgbClr val="F0F0F5"/>
                </a:solidFill>
                <a:latin typeface="Noto Sans"/>
              </a:rPr>
              <a:t>técnica</a:t>
            </a:r>
            <a:r>
              <a:rPr dirty="0">
                <a:solidFill>
                  <a:srgbClr val="F0F0F5"/>
                </a:solidFill>
                <a:latin typeface="Noto Sans"/>
              </a:rPr>
              <a:t> de la base de </a:t>
            </a:r>
            <a:r>
              <a:rPr dirty="0" err="1">
                <a:solidFill>
                  <a:srgbClr val="F0F0F5"/>
                </a:solidFill>
                <a:latin typeface="Noto Sans"/>
              </a:rPr>
              <a:t>datos</a:t>
            </a:r>
            <a:r>
              <a:rPr dirty="0">
                <a:solidFill>
                  <a:srgbClr val="F0F0F5"/>
                </a:solidFill>
                <a:latin typeface="Noto Sans"/>
              </a:rPr>
              <a:t>.</a:t>
            </a:r>
          </a:p>
          <a:p>
            <a:endParaRPr dirty="0">
              <a:solidFill>
                <a:srgbClr val="F0F0F5"/>
              </a:solidFill>
              <a:latin typeface="Noto Sans"/>
            </a:endParaRPr>
          </a:p>
          <a:p>
            <a:r>
              <a:rPr dirty="0">
                <a:solidFill>
                  <a:srgbClr val="F0F0F5"/>
                </a:solidFill>
                <a:latin typeface="Noto Sans"/>
              </a:rPr>
              <a:t>• </a:t>
            </a:r>
            <a:r>
              <a:rPr dirty="0" err="1">
                <a:solidFill>
                  <a:srgbClr val="F0F0F5"/>
                </a:solidFill>
                <a:latin typeface="Noto Sans"/>
              </a:rPr>
              <a:t>Seguridad</a:t>
            </a:r>
            <a:r>
              <a:rPr dirty="0">
                <a:solidFill>
                  <a:srgbClr val="F0F0F5"/>
                </a:solidFill>
                <a:latin typeface="Noto Sans"/>
              </a:rPr>
              <a:t> por roles y </a:t>
            </a:r>
            <a:r>
              <a:rPr dirty="0" err="1">
                <a:solidFill>
                  <a:srgbClr val="F0F0F5"/>
                </a:solidFill>
                <a:latin typeface="Noto Sans"/>
              </a:rPr>
              <a:t>permisos</a:t>
            </a:r>
            <a:r>
              <a:rPr dirty="0">
                <a:solidFill>
                  <a:srgbClr val="F0F0F5"/>
                </a:solidFill>
                <a:latin typeface="Noto Sans"/>
              </a:rPr>
              <a:t>.</a:t>
            </a:r>
          </a:p>
          <a:p>
            <a:r>
              <a:rPr dirty="0">
                <a:solidFill>
                  <a:srgbClr val="F0F0F5"/>
                </a:solidFill>
                <a:latin typeface="Noto Sans"/>
              </a:rPr>
              <a:t>• </a:t>
            </a:r>
            <a:r>
              <a:rPr dirty="0" err="1">
                <a:solidFill>
                  <a:srgbClr val="F0F0F5"/>
                </a:solidFill>
                <a:latin typeface="Noto Sans"/>
              </a:rPr>
              <a:t>Auditoría</a:t>
            </a:r>
            <a:r>
              <a:rPr dirty="0">
                <a:solidFill>
                  <a:srgbClr val="F0F0F5"/>
                </a:solidFill>
                <a:latin typeface="Noto Sans"/>
              </a:rPr>
              <a:t> y </a:t>
            </a:r>
            <a:r>
              <a:rPr dirty="0" err="1">
                <a:solidFill>
                  <a:srgbClr val="F0F0F5"/>
                </a:solidFill>
                <a:latin typeface="Noto Sans"/>
              </a:rPr>
              <a:t>respaldos</a:t>
            </a:r>
            <a:r>
              <a:rPr dirty="0">
                <a:solidFill>
                  <a:srgbClr val="F0F0F5"/>
                </a:solidFill>
                <a:latin typeface="Noto Sans"/>
              </a:rPr>
              <a:t>.</a:t>
            </a:r>
          </a:p>
          <a:p>
            <a:r>
              <a:rPr dirty="0">
                <a:solidFill>
                  <a:srgbClr val="F0F0F5"/>
                </a:solidFill>
                <a:latin typeface="Noto Sans"/>
              </a:rPr>
              <a:t>• </a:t>
            </a:r>
            <a:r>
              <a:rPr dirty="0" err="1">
                <a:solidFill>
                  <a:srgbClr val="F0F0F5"/>
                </a:solidFill>
                <a:latin typeface="Noto Sans"/>
              </a:rPr>
              <a:t>Índices</a:t>
            </a:r>
            <a:r>
              <a:rPr dirty="0">
                <a:solidFill>
                  <a:srgbClr val="F0F0F5"/>
                </a:solidFill>
                <a:latin typeface="Noto Sans"/>
              </a:rPr>
              <a:t> y </a:t>
            </a:r>
            <a:r>
              <a:rPr dirty="0" err="1">
                <a:solidFill>
                  <a:srgbClr val="F0F0F5"/>
                </a:solidFill>
                <a:latin typeface="Noto Sans"/>
              </a:rPr>
              <a:t>optimización</a:t>
            </a:r>
            <a:r>
              <a:rPr dirty="0">
                <a:solidFill>
                  <a:srgbClr val="F0F0F5"/>
                </a:solidFill>
                <a:latin typeface="Noto Sans"/>
              </a:rPr>
              <a:t>.</a:t>
            </a:r>
          </a:p>
          <a:p>
            <a:r>
              <a:rPr dirty="0">
                <a:solidFill>
                  <a:srgbClr val="F0F0F5"/>
                </a:solidFill>
                <a:latin typeface="Noto Sans"/>
              </a:rPr>
              <a:t>• Dashboard, </a:t>
            </a:r>
            <a:r>
              <a:rPr dirty="0" err="1">
                <a:solidFill>
                  <a:srgbClr val="F0F0F5"/>
                </a:solidFill>
                <a:latin typeface="Noto Sans"/>
              </a:rPr>
              <a:t>alertas</a:t>
            </a:r>
            <a:r>
              <a:rPr dirty="0">
                <a:solidFill>
                  <a:srgbClr val="F0F0F5"/>
                </a:solidFill>
                <a:latin typeface="Noto Sans"/>
              </a:rPr>
              <a:t> e IA.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0" y="2920329"/>
            <a:ext cx="6972300" cy="2223171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b="1" dirty="0">
                <a:solidFill>
                  <a:srgbClr val="F0F0F5"/>
                </a:solidFill>
                <a:latin typeface="Noto Sans"/>
              </a:rPr>
              <a:t>PROBLEMA</a:t>
            </a:r>
          </a:p>
          <a:p>
            <a:r>
              <a:rPr dirty="0">
                <a:solidFill>
                  <a:srgbClr val="F0F0F5"/>
                </a:solidFill>
                <a:latin typeface="Noto Sans"/>
              </a:rPr>
              <a:t>La </a:t>
            </a:r>
            <a:r>
              <a:rPr dirty="0" err="1">
                <a:solidFill>
                  <a:srgbClr val="F0F0F5"/>
                </a:solidFill>
                <a:latin typeface="Noto Sans"/>
              </a:rPr>
              <a:t>gestión</a:t>
            </a:r>
            <a:r>
              <a:rPr dirty="0">
                <a:solidFill>
                  <a:srgbClr val="F0F0F5"/>
                </a:solidFill>
                <a:latin typeface="Noto Sans"/>
              </a:rPr>
              <a:t> del </a:t>
            </a:r>
            <a:r>
              <a:rPr dirty="0" err="1">
                <a:solidFill>
                  <a:srgbClr val="F0F0F5"/>
                </a:solidFill>
                <a:latin typeface="Noto Sans"/>
              </a:rPr>
              <a:t>restaurante</a:t>
            </a:r>
            <a:r>
              <a:rPr dirty="0">
                <a:solidFill>
                  <a:srgbClr val="F0F0F5"/>
                </a:solidFill>
                <a:latin typeface="Noto Sans"/>
              </a:rPr>
              <a:t> </a:t>
            </a:r>
            <a:r>
              <a:rPr dirty="0" err="1">
                <a:solidFill>
                  <a:srgbClr val="F0F0F5"/>
                </a:solidFill>
                <a:latin typeface="Noto Sans"/>
              </a:rPr>
              <a:t>puede</a:t>
            </a:r>
            <a:r>
              <a:rPr dirty="0">
                <a:solidFill>
                  <a:srgbClr val="F0F0F5"/>
                </a:solidFill>
                <a:latin typeface="Noto Sans"/>
              </a:rPr>
              <a:t> </a:t>
            </a:r>
            <a:r>
              <a:rPr dirty="0" err="1">
                <a:solidFill>
                  <a:srgbClr val="F0F0F5"/>
                </a:solidFill>
                <a:latin typeface="Noto Sans"/>
              </a:rPr>
              <a:t>fragmentar</a:t>
            </a:r>
            <a:r>
              <a:rPr dirty="0">
                <a:solidFill>
                  <a:srgbClr val="F0F0F5"/>
                </a:solidFill>
                <a:latin typeface="Noto Sans"/>
              </a:rPr>
              <a:t> </a:t>
            </a:r>
            <a:r>
              <a:rPr dirty="0" err="1">
                <a:solidFill>
                  <a:srgbClr val="F0F0F5"/>
                </a:solidFill>
                <a:latin typeface="Noto Sans"/>
              </a:rPr>
              <a:t>pedidos</a:t>
            </a:r>
            <a:r>
              <a:rPr dirty="0">
                <a:solidFill>
                  <a:srgbClr val="F0F0F5"/>
                </a:solidFill>
                <a:latin typeface="Noto Sans"/>
              </a:rPr>
              <a:t>, mesas, </a:t>
            </a:r>
            <a:r>
              <a:rPr dirty="0" err="1">
                <a:solidFill>
                  <a:srgbClr val="F0F0F5"/>
                </a:solidFill>
                <a:latin typeface="Noto Sans"/>
              </a:rPr>
              <a:t>inventario</a:t>
            </a:r>
            <a:r>
              <a:rPr dirty="0">
                <a:solidFill>
                  <a:srgbClr val="F0F0F5"/>
                </a:solidFill>
                <a:latin typeface="Noto Sans"/>
              </a:rPr>
              <a:t>, </a:t>
            </a:r>
            <a:r>
              <a:rPr dirty="0" err="1">
                <a:solidFill>
                  <a:srgbClr val="F0F0F5"/>
                </a:solidFill>
                <a:latin typeface="Noto Sans"/>
              </a:rPr>
              <a:t>compras</a:t>
            </a:r>
            <a:r>
              <a:rPr dirty="0">
                <a:solidFill>
                  <a:srgbClr val="F0F0F5"/>
                </a:solidFill>
                <a:latin typeface="Noto Sans"/>
              </a:rPr>
              <a:t> y </a:t>
            </a:r>
            <a:r>
              <a:rPr dirty="0" err="1">
                <a:solidFill>
                  <a:srgbClr val="F0F0F5"/>
                </a:solidFill>
                <a:latin typeface="Noto Sans"/>
              </a:rPr>
              <a:t>facturación</a:t>
            </a:r>
            <a:r>
              <a:rPr dirty="0">
                <a:solidFill>
                  <a:srgbClr val="F0F0F5"/>
                </a:solidFill>
                <a:latin typeface="Noto Sans"/>
              </a:rPr>
              <a:t>. El </a:t>
            </a:r>
            <a:r>
              <a:rPr dirty="0" err="1">
                <a:solidFill>
                  <a:srgbClr val="F0F0F5"/>
                </a:solidFill>
                <a:latin typeface="Noto Sans"/>
              </a:rPr>
              <a:t>crecimiento</a:t>
            </a:r>
            <a:r>
              <a:rPr dirty="0">
                <a:solidFill>
                  <a:srgbClr val="F0F0F5"/>
                </a:solidFill>
                <a:latin typeface="Noto Sans"/>
              </a:rPr>
              <a:t> de </a:t>
            </a:r>
            <a:r>
              <a:rPr dirty="0" err="1">
                <a:solidFill>
                  <a:srgbClr val="F0F0F5"/>
                </a:solidFill>
                <a:latin typeface="Noto Sans"/>
              </a:rPr>
              <a:t>datos</a:t>
            </a:r>
            <a:r>
              <a:rPr dirty="0">
                <a:solidFill>
                  <a:srgbClr val="F0F0F5"/>
                </a:solidFill>
                <a:latin typeface="Noto Sans"/>
              </a:rPr>
              <a:t> </a:t>
            </a:r>
            <a:r>
              <a:rPr dirty="0" err="1">
                <a:solidFill>
                  <a:srgbClr val="F0F0F5"/>
                </a:solidFill>
                <a:latin typeface="Noto Sans"/>
              </a:rPr>
              <a:t>también</a:t>
            </a:r>
            <a:r>
              <a:rPr dirty="0">
                <a:solidFill>
                  <a:srgbClr val="F0F0F5"/>
                </a:solidFill>
                <a:latin typeface="Noto Sans"/>
              </a:rPr>
              <a:t> </a:t>
            </a:r>
            <a:r>
              <a:rPr dirty="0" err="1">
                <a:solidFill>
                  <a:srgbClr val="F0F0F5"/>
                </a:solidFill>
                <a:latin typeface="Noto Sans"/>
              </a:rPr>
              <a:t>exige</a:t>
            </a:r>
            <a:r>
              <a:rPr dirty="0">
                <a:solidFill>
                  <a:srgbClr val="F0F0F5"/>
                </a:solidFill>
                <a:latin typeface="Noto Sans"/>
              </a:rPr>
              <a:t> </a:t>
            </a:r>
            <a:r>
              <a:rPr dirty="0" err="1">
                <a:solidFill>
                  <a:srgbClr val="F0F0F5"/>
                </a:solidFill>
                <a:latin typeface="Noto Sans"/>
              </a:rPr>
              <a:t>controlar</a:t>
            </a:r>
            <a:r>
              <a:rPr dirty="0">
                <a:solidFill>
                  <a:srgbClr val="F0F0F5"/>
                </a:solidFill>
                <a:latin typeface="Noto Sans"/>
              </a:rPr>
              <a:t> </a:t>
            </a:r>
            <a:r>
              <a:rPr dirty="0" err="1">
                <a:solidFill>
                  <a:srgbClr val="F0F0F5"/>
                </a:solidFill>
                <a:latin typeface="Noto Sans"/>
              </a:rPr>
              <a:t>accesos</a:t>
            </a:r>
            <a:r>
              <a:rPr dirty="0">
                <a:solidFill>
                  <a:srgbClr val="F0F0F5"/>
                </a:solidFill>
                <a:latin typeface="Noto Sans"/>
              </a:rPr>
              <a:t>, registrar </a:t>
            </a:r>
            <a:r>
              <a:rPr dirty="0" err="1">
                <a:solidFill>
                  <a:srgbClr val="F0F0F5"/>
                </a:solidFill>
                <a:latin typeface="Noto Sans"/>
              </a:rPr>
              <a:t>operaciones</a:t>
            </a:r>
            <a:r>
              <a:rPr dirty="0">
                <a:solidFill>
                  <a:srgbClr val="F0F0F5"/>
                </a:solidFill>
                <a:latin typeface="Noto Sans"/>
              </a:rPr>
              <a:t> </a:t>
            </a:r>
            <a:r>
              <a:rPr dirty="0" err="1">
                <a:solidFill>
                  <a:srgbClr val="F0F0F5"/>
                </a:solidFill>
                <a:latin typeface="Noto Sans"/>
              </a:rPr>
              <a:t>críticas</a:t>
            </a:r>
            <a:r>
              <a:rPr dirty="0">
                <a:solidFill>
                  <a:srgbClr val="F0F0F5"/>
                </a:solidFill>
                <a:latin typeface="Noto Sans"/>
              </a:rPr>
              <a:t> y </a:t>
            </a:r>
            <a:r>
              <a:rPr dirty="0" err="1">
                <a:solidFill>
                  <a:srgbClr val="F0F0F5"/>
                </a:solidFill>
                <a:latin typeface="Noto Sans"/>
              </a:rPr>
              <a:t>mantener</a:t>
            </a:r>
            <a:r>
              <a:rPr dirty="0">
                <a:solidFill>
                  <a:srgbClr val="F0F0F5"/>
                </a:solidFill>
                <a:latin typeface="Noto Sans"/>
              </a:rPr>
              <a:t> </a:t>
            </a:r>
            <a:r>
              <a:rPr dirty="0" err="1">
                <a:solidFill>
                  <a:srgbClr val="F0F0F5"/>
                </a:solidFill>
                <a:latin typeface="Noto Sans"/>
              </a:rPr>
              <a:t>buen</a:t>
            </a:r>
            <a:r>
              <a:rPr dirty="0">
                <a:solidFill>
                  <a:srgbClr val="F0F0F5"/>
                </a:solidFill>
                <a:latin typeface="Noto Sans"/>
              </a:rPr>
              <a:t> </a:t>
            </a:r>
            <a:r>
              <a:rPr dirty="0" err="1">
                <a:solidFill>
                  <a:srgbClr val="F0F0F5"/>
                </a:solidFill>
                <a:latin typeface="Noto Sans"/>
              </a:rPr>
              <a:t>rendimiento</a:t>
            </a:r>
            <a:r>
              <a:rPr dirty="0">
                <a:solidFill>
                  <a:srgbClr val="F0F0F5"/>
                </a:solidFill>
                <a:latin typeface="Noto Sans"/>
              </a:rPr>
              <a:t>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312202" y="6447354"/>
            <a:ext cx="3075654" cy="44831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sz="2400" b="1" dirty="0" err="1">
                <a:solidFill>
                  <a:srgbClr val="D2FFE7"/>
                </a:solidFill>
                <a:latin typeface="Noto Sans"/>
              </a:rPr>
              <a:t>Objetivo</a:t>
            </a:r>
            <a:r>
              <a:rPr sz="2400" b="1" dirty="0">
                <a:solidFill>
                  <a:srgbClr val="D2FFE7"/>
                </a:solidFill>
                <a:latin typeface="Noto Sans"/>
              </a:rPr>
              <a:t> general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363507"/>
            <a:ext cx="4640513" cy="389256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sz="2200" b="1">
                <a:solidFill>
                  <a:srgbClr val="D2FFE7"/>
                </a:solidFill>
                <a:latin typeface="Roboto Condensed"/>
              </a:rPr>
              <a:t>RESTAUSTOCK IA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338452" y="400019"/>
            <a:ext cx="1309776" cy="31623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sz="1500">
                <a:solidFill>
                  <a:srgbClr val="F2F5FA"/>
                </a:solidFill>
                <a:latin typeface="Noto Sans"/>
              </a:rPr>
              <a:t>Express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30383" y="400019"/>
            <a:ext cx="1454024" cy="31623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sz="1500">
                <a:solidFill>
                  <a:srgbClr val="F2F5FA"/>
                </a:solidFill>
                <a:latin typeface="Noto Sans"/>
              </a:rPr>
              <a:t>PostgreSQL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535144" y="400019"/>
            <a:ext cx="1252571" cy="31623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sz="1500">
                <a:solidFill>
                  <a:srgbClr val="F2F5FA"/>
                </a:solidFill>
                <a:latin typeface="Noto Sans"/>
              </a:rPr>
              <a:t>Node.js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611011" y="400019"/>
            <a:ext cx="1347345" cy="31623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sz="1500">
                <a:solidFill>
                  <a:srgbClr val="14191E"/>
                </a:solidFill>
                <a:latin typeface="Noto Sans"/>
              </a:rPr>
              <a:t>UTEQ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28122" y="282779"/>
            <a:ext cx="5922367" cy="598335"/>
            <a:chOff x="0" y="0"/>
            <a:chExt cx="2685658" cy="2713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85658" cy="271331"/>
            </a:xfrm>
            <a:custGeom>
              <a:avLst/>
              <a:gdLst/>
              <a:ahLst/>
              <a:cxnLst/>
              <a:rect l="l" t="t" r="r" b="b"/>
              <a:pathLst>
                <a:path w="2685658" h="271331">
                  <a:moveTo>
                    <a:pt x="13072" y="0"/>
                  </a:moveTo>
                  <a:lnTo>
                    <a:pt x="2672586" y="0"/>
                  </a:lnTo>
                  <a:cubicBezTo>
                    <a:pt x="2679805" y="0"/>
                    <a:pt x="2685658" y="5853"/>
                    <a:pt x="2685658" y="13072"/>
                  </a:cubicBezTo>
                  <a:lnTo>
                    <a:pt x="2685658" y="258259"/>
                  </a:lnTo>
                  <a:cubicBezTo>
                    <a:pt x="2685658" y="265479"/>
                    <a:pt x="2679805" y="271331"/>
                    <a:pt x="2672586" y="271331"/>
                  </a:cubicBezTo>
                  <a:lnTo>
                    <a:pt x="13072" y="271331"/>
                  </a:lnTo>
                  <a:cubicBezTo>
                    <a:pt x="5853" y="271331"/>
                    <a:pt x="0" y="265479"/>
                    <a:pt x="0" y="258259"/>
                  </a:cubicBezTo>
                  <a:lnTo>
                    <a:pt x="0" y="13072"/>
                  </a:lnTo>
                  <a:cubicBezTo>
                    <a:pt x="0" y="5853"/>
                    <a:pt x="5853" y="0"/>
                    <a:pt x="13072" y="0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685658" cy="318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310066" y="282779"/>
            <a:ext cx="1949234" cy="598335"/>
            <a:chOff x="0" y="0"/>
            <a:chExt cx="883933" cy="2713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83933" cy="271331"/>
            </a:xfrm>
            <a:custGeom>
              <a:avLst/>
              <a:gdLst/>
              <a:ahLst/>
              <a:cxnLst/>
              <a:rect l="l" t="t" r="r" b="b"/>
              <a:pathLst>
                <a:path w="883933" h="271331">
                  <a:moveTo>
                    <a:pt x="39718" y="0"/>
                  </a:moveTo>
                  <a:lnTo>
                    <a:pt x="844215" y="0"/>
                  </a:lnTo>
                  <a:cubicBezTo>
                    <a:pt x="866151" y="0"/>
                    <a:pt x="883933" y="17782"/>
                    <a:pt x="883933" y="39718"/>
                  </a:cubicBezTo>
                  <a:lnTo>
                    <a:pt x="883933" y="231614"/>
                  </a:lnTo>
                  <a:cubicBezTo>
                    <a:pt x="883933" y="253549"/>
                    <a:pt x="866151" y="271331"/>
                    <a:pt x="844215" y="271331"/>
                  </a:cubicBezTo>
                  <a:lnTo>
                    <a:pt x="39718" y="271331"/>
                  </a:lnTo>
                  <a:cubicBezTo>
                    <a:pt x="29184" y="271331"/>
                    <a:pt x="19082" y="267147"/>
                    <a:pt x="11633" y="259698"/>
                  </a:cubicBezTo>
                  <a:cubicBezTo>
                    <a:pt x="4185" y="252250"/>
                    <a:pt x="0" y="242147"/>
                    <a:pt x="0" y="231614"/>
                  </a:cubicBezTo>
                  <a:lnTo>
                    <a:pt x="0" y="39718"/>
                  </a:lnTo>
                  <a:cubicBezTo>
                    <a:pt x="0" y="29184"/>
                    <a:pt x="4185" y="19082"/>
                    <a:pt x="11633" y="11633"/>
                  </a:cubicBezTo>
                  <a:cubicBezTo>
                    <a:pt x="19082" y="4185"/>
                    <a:pt x="29184" y="0"/>
                    <a:pt x="3971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883933" cy="318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57395" y="2068724"/>
            <a:ext cx="7001905" cy="3454574"/>
            <a:chOff x="0" y="0"/>
            <a:chExt cx="1084778" cy="53520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84778" cy="535204"/>
            </a:xfrm>
            <a:custGeom>
              <a:avLst/>
              <a:gdLst/>
              <a:ahLst/>
              <a:cxnLst/>
              <a:rect l="l" t="t" r="r" b="b"/>
              <a:pathLst>
                <a:path w="1084778" h="535204">
                  <a:moveTo>
                    <a:pt x="25431" y="0"/>
                  </a:moveTo>
                  <a:lnTo>
                    <a:pt x="1059347" y="0"/>
                  </a:lnTo>
                  <a:cubicBezTo>
                    <a:pt x="1066092" y="0"/>
                    <a:pt x="1072561" y="2679"/>
                    <a:pt x="1077330" y="7449"/>
                  </a:cubicBezTo>
                  <a:cubicBezTo>
                    <a:pt x="1082099" y="12218"/>
                    <a:pt x="1084778" y="18686"/>
                    <a:pt x="1084778" y="25431"/>
                  </a:cubicBezTo>
                  <a:lnTo>
                    <a:pt x="1084778" y="509773"/>
                  </a:lnTo>
                  <a:cubicBezTo>
                    <a:pt x="1084778" y="516518"/>
                    <a:pt x="1082099" y="522986"/>
                    <a:pt x="1077330" y="527755"/>
                  </a:cubicBezTo>
                  <a:cubicBezTo>
                    <a:pt x="1072561" y="532525"/>
                    <a:pt x="1066092" y="535204"/>
                    <a:pt x="1059347" y="535204"/>
                  </a:cubicBezTo>
                  <a:lnTo>
                    <a:pt x="25431" y="535204"/>
                  </a:lnTo>
                  <a:cubicBezTo>
                    <a:pt x="18686" y="535204"/>
                    <a:pt x="12218" y="532525"/>
                    <a:pt x="7449" y="527755"/>
                  </a:cubicBezTo>
                  <a:cubicBezTo>
                    <a:pt x="2679" y="522986"/>
                    <a:pt x="0" y="516518"/>
                    <a:pt x="0" y="509773"/>
                  </a:cubicBezTo>
                  <a:lnTo>
                    <a:pt x="0" y="25431"/>
                  </a:lnTo>
                  <a:cubicBezTo>
                    <a:pt x="0" y="18686"/>
                    <a:pt x="2679" y="12218"/>
                    <a:pt x="7449" y="7449"/>
                  </a:cubicBezTo>
                  <a:cubicBezTo>
                    <a:pt x="12218" y="2679"/>
                    <a:pt x="18686" y="0"/>
                    <a:pt x="25431" y="0"/>
                  </a:cubicBezTo>
                  <a:close/>
                </a:path>
              </a:pathLst>
            </a:custGeom>
            <a:blipFill>
              <a:blip r:embed="rId2"/>
              <a:stretch>
                <a:fillRect t="-17070" b="-17070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4045604" y="5523298"/>
            <a:ext cx="3664724" cy="3454574"/>
            <a:chOff x="0" y="0"/>
            <a:chExt cx="567762" cy="53520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67762" cy="535204"/>
            </a:xfrm>
            <a:custGeom>
              <a:avLst/>
              <a:gdLst/>
              <a:ahLst/>
              <a:cxnLst/>
              <a:rect l="l" t="t" r="r" b="b"/>
              <a:pathLst>
                <a:path w="567762" h="535204">
                  <a:moveTo>
                    <a:pt x="48589" y="0"/>
                  </a:moveTo>
                  <a:lnTo>
                    <a:pt x="519173" y="0"/>
                  </a:lnTo>
                  <a:cubicBezTo>
                    <a:pt x="532059" y="0"/>
                    <a:pt x="544418" y="5119"/>
                    <a:pt x="553530" y="14231"/>
                  </a:cubicBezTo>
                  <a:cubicBezTo>
                    <a:pt x="562642" y="23343"/>
                    <a:pt x="567762" y="35702"/>
                    <a:pt x="567762" y="48589"/>
                  </a:cubicBezTo>
                  <a:lnTo>
                    <a:pt x="567762" y="486615"/>
                  </a:lnTo>
                  <a:cubicBezTo>
                    <a:pt x="567762" y="513450"/>
                    <a:pt x="546008" y="535204"/>
                    <a:pt x="519173" y="535204"/>
                  </a:cubicBezTo>
                  <a:lnTo>
                    <a:pt x="48589" y="535204"/>
                  </a:lnTo>
                  <a:cubicBezTo>
                    <a:pt x="35702" y="535204"/>
                    <a:pt x="23343" y="530085"/>
                    <a:pt x="14231" y="520973"/>
                  </a:cubicBezTo>
                  <a:cubicBezTo>
                    <a:pt x="5119" y="511860"/>
                    <a:pt x="0" y="499502"/>
                    <a:pt x="0" y="486615"/>
                  </a:cubicBezTo>
                  <a:lnTo>
                    <a:pt x="0" y="48589"/>
                  </a:lnTo>
                  <a:cubicBezTo>
                    <a:pt x="0" y="21754"/>
                    <a:pt x="21754" y="0"/>
                    <a:pt x="48589" y="0"/>
                  </a:cubicBezTo>
                  <a:close/>
                </a:path>
              </a:pathLst>
            </a:custGeom>
            <a:blipFill>
              <a:blip r:embed="rId3"/>
              <a:stretch>
                <a:fillRect l="-20634" r="-20634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0821167" y="4758668"/>
            <a:ext cx="3675465" cy="3675465"/>
            <a:chOff x="0" y="0"/>
            <a:chExt cx="968024" cy="96802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68024" cy="968024"/>
            </a:xfrm>
            <a:custGeom>
              <a:avLst/>
              <a:gdLst/>
              <a:ahLst/>
              <a:cxnLst/>
              <a:rect l="l" t="t" r="r" b="b"/>
              <a:pathLst>
                <a:path w="968024" h="968024">
                  <a:moveTo>
                    <a:pt x="48447" y="0"/>
                  </a:moveTo>
                  <a:lnTo>
                    <a:pt x="919577" y="0"/>
                  </a:lnTo>
                  <a:cubicBezTo>
                    <a:pt x="932426" y="0"/>
                    <a:pt x="944748" y="5104"/>
                    <a:pt x="953834" y="14190"/>
                  </a:cubicBezTo>
                  <a:cubicBezTo>
                    <a:pt x="962919" y="23275"/>
                    <a:pt x="968024" y="35598"/>
                    <a:pt x="968024" y="48447"/>
                  </a:cubicBezTo>
                  <a:lnTo>
                    <a:pt x="968024" y="919577"/>
                  </a:lnTo>
                  <a:cubicBezTo>
                    <a:pt x="968024" y="932426"/>
                    <a:pt x="962919" y="944748"/>
                    <a:pt x="953834" y="953834"/>
                  </a:cubicBezTo>
                  <a:cubicBezTo>
                    <a:pt x="944748" y="962919"/>
                    <a:pt x="932426" y="968024"/>
                    <a:pt x="919577" y="968024"/>
                  </a:cubicBezTo>
                  <a:lnTo>
                    <a:pt x="48447" y="968024"/>
                  </a:lnTo>
                  <a:cubicBezTo>
                    <a:pt x="35598" y="968024"/>
                    <a:pt x="23275" y="962919"/>
                    <a:pt x="14190" y="953834"/>
                  </a:cubicBezTo>
                  <a:cubicBezTo>
                    <a:pt x="5104" y="944748"/>
                    <a:pt x="0" y="932426"/>
                    <a:pt x="0" y="919577"/>
                  </a:cubicBezTo>
                  <a:lnTo>
                    <a:pt x="0" y="48447"/>
                  </a:lnTo>
                  <a:cubicBezTo>
                    <a:pt x="0" y="35598"/>
                    <a:pt x="5104" y="23275"/>
                    <a:pt x="14190" y="14190"/>
                  </a:cubicBezTo>
                  <a:cubicBezTo>
                    <a:pt x="23275" y="5104"/>
                    <a:pt x="35598" y="0"/>
                    <a:pt x="4844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968024" cy="10156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28700" y="2087774"/>
            <a:ext cx="7911033" cy="710184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5567"/>
              </a:lnSpc>
            </a:pPr>
            <a:r>
              <a:rPr sz="4600" b="1">
                <a:solidFill>
                  <a:srgbClr val="D0FFE3"/>
                </a:solidFill>
                <a:latin typeface="Roboto Condensed"/>
              </a:rPr>
              <a:t>ARQUITECTURA DEL SISTEMA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3886964"/>
            <a:ext cx="1866309" cy="44831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endParaRPr sz="2300" b="1" dirty="0">
              <a:solidFill>
                <a:srgbClr val="D2FFE7"/>
              </a:solidFill>
              <a:latin typeface="Noto Sa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28700" y="363507"/>
            <a:ext cx="4640513" cy="389256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sz="2200" b="1">
                <a:solidFill>
                  <a:srgbClr val="D2FFE7"/>
                </a:solidFill>
                <a:latin typeface="Roboto Condensed"/>
              </a:rPr>
              <a:t>RESTAUSTOCK IA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338452" y="400019"/>
            <a:ext cx="1309776" cy="31623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sz="1500">
                <a:solidFill>
                  <a:srgbClr val="F2F5FA"/>
                </a:solidFill>
                <a:latin typeface="Noto Sans"/>
              </a:rPr>
              <a:t>Express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530383" y="400019"/>
            <a:ext cx="1454024" cy="31623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sz="1500">
                <a:solidFill>
                  <a:srgbClr val="F2F5FA"/>
                </a:solidFill>
                <a:latin typeface="Noto Sans"/>
              </a:rPr>
              <a:t>PostgreSQL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535144" y="400019"/>
            <a:ext cx="1252571" cy="31623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sz="1500">
                <a:solidFill>
                  <a:srgbClr val="F2F5FA"/>
                </a:solidFill>
                <a:latin typeface="Noto Sans"/>
              </a:rPr>
              <a:t>Node.js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611011" y="400019"/>
            <a:ext cx="1347345" cy="31623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sz="1500">
                <a:solidFill>
                  <a:srgbClr val="14191E"/>
                </a:solidFill>
                <a:latin typeface="Noto Sans"/>
              </a:rPr>
              <a:t>UTEQ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851085" y="6510750"/>
            <a:ext cx="3620147" cy="2040525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ctr">
              <a:spcBef>
                <a:spcPct val="0"/>
              </a:spcBef>
            </a:pPr>
            <a:r>
              <a:rPr lang="es-EC" sz="2400" b="1" dirty="0">
                <a:solidFill>
                  <a:srgbClr val="28323C"/>
                </a:solidFill>
                <a:latin typeface="Noto Sans"/>
              </a:rPr>
              <a:t>Usuarios → Aplicación web → </a:t>
            </a:r>
            <a:r>
              <a:rPr lang="es-EC" sz="2400" b="1" dirty="0" err="1">
                <a:solidFill>
                  <a:srgbClr val="28323C"/>
                </a:solidFill>
                <a:latin typeface="Noto Sans"/>
              </a:rPr>
              <a:t>Postg</a:t>
            </a:r>
            <a:r>
              <a:rPr sz="2400" b="1" dirty="0" err="1">
                <a:solidFill>
                  <a:srgbClr val="28323C"/>
                </a:solidFill>
                <a:latin typeface="Noto Sans"/>
              </a:rPr>
              <a:t>reSQL</a:t>
            </a:r>
            <a:endParaRPr sz="2400" b="1" dirty="0">
              <a:solidFill>
                <a:srgbClr val="28323C"/>
              </a:solidFill>
              <a:latin typeface="Noto San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1608531" y="4758668"/>
            <a:ext cx="2100738" cy="1271989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10226"/>
              </a:lnSpc>
              <a:spcBef>
                <a:spcPct val="0"/>
              </a:spcBef>
            </a:pPr>
            <a:endParaRPr sz="5400" b="1" dirty="0">
              <a:solidFill>
                <a:srgbClr val="000000"/>
              </a:solidFill>
              <a:latin typeface="Roboto Condensed"/>
            </a:endParaRPr>
          </a:p>
        </p:txBody>
      </p:sp>
      <p:pic>
        <p:nvPicPr>
          <p:cNvPr id="27" name="Picture 26" descr="vscode_proje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2892" y="1167269"/>
            <a:ext cx="7697074" cy="4283049"/>
          </a:xfrm>
          <a:prstGeom prst="rect">
            <a:avLst/>
          </a:prstGeom>
        </p:spPr>
      </p:pic>
      <p:sp>
        <p:nvSpPr>
          <p:cNvPr id="28" name="Rectangle 1">
            <a:extLst>
              <a:ext uri="{FF2B5EF4-FFF2-40B4-BE49-F238E27FC236}">
                <a16:creationId xmlns:a16="http://schemas.microsoft.com/office/drawing/2014/main" id="{23B37423-AF88-40A6-AC5F-65B67C894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383" y="3817163"/>
            <a:ext cx="7697074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C" altLang="es-EC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APLICACIÓN WEB</a:t>
            </a:r>
            <a:br>
              <a:rPr kumimoji="0" lang="es-EC" altLang="es-EC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s-EC" altLang="es-EC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Frontend</a:t>
            </a:r>
            <a:r>
              <a:rPr kumimoji="0" lang="es-EC" altLang="es-EC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desarrollado con HTML, CSS y JavaScript.</a:t>
            </a:r>
            <a:br>
              <a:rPr kumimoji="0" lang="es-EC" altLang="es-EC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s-EC" altLang="es-EC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Backend</a:t>
            </a:r>
            <a:r>
              <a:rPr kumimoji="0" lang="es-EC" altLang="es-EC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implementado con Node.js y Express.</a:t>
            </a:r>
            <a:br>
              <a:rPr kumimoji="0" lang="es-EC" altLang="es-EC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s-EC" altLang="es-EC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La aplicación consume una API REST y gestiona las operaciones del sistema.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C" altLang="es-EC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BASE DE DATOS</a:t>
            </a:r>
            <a:br>
              <a:rPr kumimoji="0" lang="es-EC" altLang="es-EC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s-EC" altLang="es-EC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PostgreSQL 18 con la base </a:t>
            </a:r>
            <a:r>
              <a:rPr kumimoji="0" lang="es-EC" altLang="es-EC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restaurante_indices_bd</a:t>
            </a:r>
            <a:r>
              <a:rPr kumimoji="0" lang="es-EC" altLang="es-EC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  <a:br>
              <a:rPr kumimoji="0" lang="es-EC" altLang="es-EC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</a:br>
            <a:r>
              <a:rPr kumimoji="0" lang="es-EC" altLang="es-EC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Incluye tablas relacionadas mediante claves primarias y foráneas, roles, permisos, auditoría, respaldos e índices.</a:t>
            </a:r>
            <a:endParaRPr kumimoji="0" lang="es-EC" altLang="es-EC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C" altLang="es-EC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FLUJO DEL SISTEMA</a:t>
            </a:r>
            <a:br>
              <a:rPr kumimoji="0" lang="es-EC" altLang="es-EC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s-EC" altLang="es-EC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Usuario → Aplicación web → API/Servidor → PostgreSQL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C" altLang="es-EC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SEGURIDAD</a:t>
            </a:r>
            <a:br>
              <a:rPr kumimoji="0" lang="es-EC" altLang="es-EC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s-EC" altLang="es-EC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Cada sesión se identifica mediante usuarios y roles de PostgreSQL, controlando el acceso según los permisos asignados.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28122" y="282779"/>
            <a:ext cx="5922367" cy="598335"/>
            <a:chOff x="0" y="0"/>
            <a:chExt cx="2685658" cy="2713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85658" cy="271331"/>
            </a:xfrm>
            <a:custGeom>
              <a:avLst/>
              <a:gdLst/>
              <a:ahLst/>
              <a:cxnLst/>
              <a:rect l="l" t="t" r="r" b="b"/>
              <a:pathLst>
                <a:path w="2685658" h="271331">
                  <a:moveTo>
                    <a:pt x="13072" y="0"/>
                  </a:moveTo>
                  <a:lnTo>
                    <a:pt x="2672586" y="0"/>
                  </a:lnTo>
                  <a:cubicBezTo>
                    <a:pt x="2679805" y="0"/>
                    <a:pt x="2685658" y="5853"/>
                    <a:pt x="2685658" y="13072"/>
                  </a:cubicBezTo>
                  <a:lnTo>
                    <a:pt x="2685658" y="258259"/>
                  </a:lnTo>
                  <a:cubicBezTo>
                    <a:pt x="2685658" y="265479"/>
                    <a:pt x="2679805" y="271331"/>
                    <a:pt x="2672586" y="271331"/>
                  </a:cubicBezTo>
                  <a:lnTo>
                    <a:pt x="13072" y="271331"/>
                  </a:lnTo>
                  <a:cubicBezTo>
                    <a:pt x="5853" y="271331"/>
                    <a:pt x="0" y="265479"/>
                    <a:pt x="0" y="258259"/>
                  </a:cubicBezTo>
                  <a:lnTo>
                    <a:pt x="0" y="13072"/>
                  </a:lnTo>
                  <a:cubicBezTo>
                    <a:pt x="0" y="5853"/>
                    <a:pt x="5853" y="0"/>
                    <a:pt x="13072" y="0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685658" cy="318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310066" y="282779"/>
            <a:ext cx="1949234" cy="598335"/>
            <a:chOff x="0" y="0"/>
            <a:chExt cx="883933" cy="2713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83933" cy="271331"/>
            </a:xfrm>
            <a:custGeom>
              <a:avLst/>
              <a:gdLst/>
              <a:ahLst/>
              <a:cxnLst/>
              <a:rect l="l" t="t" r="r" b="b"/>
              <a:pathLst>
                <a:path w="883933" h="271331">
                  <a:moveTo>
                    <a:pt x="39718" y="0"/>
                  </a:moveTo>
                  <a:lnTo>
                    <a:pt x="844215" y="0"/>
                  </a:lnTo>
                  <a:cubicBezTo>
                    <a:pt x="866151" y="0"/>
                    <a:pt x="883933" y="17782"/>
                    <a:pt x="883933" y="39718"/>
                  </a:cubicBezTo>
                  <a:lnTo>
                    <a:pt x="883933" y="231614"/>
                  </a:lnTo>
                  <a:cubicBezTo>
                    <a:pt x="883933" y="253549"/>
                    <a:pt x="866151" y="271331"/>
                    <a:pt x="844215" y="271331"/>
                  </a:cubicBezTo>
                  <a:lnTo>
                    <a:pt x="39718" y="271331"/>
                  </a:lnTo>
                  <a:cubicBezTo>
                    <a:pt x="29184" y="271331"/>
                    <a:pt x="19082" y="267147"/>
                    <a:pt x="11633" y="259698"/>
                  </a:cubicBezTo>
                  <a:cubicBezTo>
                    <a:pt x="4185" y="252250"/>
                    <a:pt x="0" y="242147"/>
                    <a:pt x="0" y="231614"/>
                  </a:cubicBezTo>
                  <a:lnTo>
                    <a:pt x="0" y="39718"/>
                  </a:lnTo>
                  <a:cubicBezTo>
                    <a:pt x="0" y="29184"/>
                    <a:pt x="4185" y="19082"/>
                    <a:pt x="11633" y="11633"/>
                  </a:cubicBezTo>
                  <a:cubicBezTo>
                    <a:pt x="19082" y="4185"/>
                    <a:pt x="29184" y="0"/>
                    <a:pt x="3971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883933" cy="318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954054" y="1308810"/>
            <a:ext cx="6530929" cy="1488205"/>
            <a:chOff x="0" y="0"/>
            <a:chExt cx="1720080" cy="50033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20080" cy="500337"/>
            </a:xfrm>
            <a:custGeom>
              <a:avLst/>
              <a:gdLst/>
              <a:ahLst/>
              <a:cxnLst/>
              <a:rect l="l" t="t" r="r" b="b"/>
              <a:pathLst>
                <a:path w="1720080" h="500337">
                  <a:moveTo>
                    <a:pt x="27265" y="0"/>
                  </a:moveTo>
                  <a:lnTo>
                    <a:pt x="1692815" y="0"/>
                  </a:lnTo>
                  <a:cubicBezTo>
                    <a:pt x="1700046" y="0"/>
                    <a:pt x="1706981" y="2873"/>
                    <a:pt x="1712094" y="7986"/>
                  </a:cubicBezTo>
                  <a:cubicBezTo>
                    <a:pt x="1717208" y="13099"/>
                    <a:pt x="1720080" y="20034"/>
                    <a:pt x="1720080" y="27265"/>
                  </a:cubicBezTo>
                  <a:lnTo>
                    <a:pt x="1720080" y="473072"/>
                  </a:lnTo>
                  <a:cubicBezTo>
                    <a:pt x="1720080" y="480303"/>
                    <a:pt x="1717208" y="487238"/>
                    <a:pt x="1712094" y="492351"/>
                  </a:cubicBezTo>
                  <a:cubicBezTo>
                    <a:pt x="1706981" y="497464"/>
                    <a:pt x="1700046" y="500337"/>
                    <a:pt x="1692815" y="500337"/>
                  </a:cubicBezTo>
                  <a:lnTo>
                    <a:pt x="27265" y="500337"/>
                  </a:lnTo>
                  <a:cubicBezTo>
                    <a:pt x="20034" y="500337"/>
                    <a:pt x="13099" y="497464"/>
                    <a:pt x="7986" y="492351"/>
                  </a:cubicBezTo>
                  <a:cubicBezTo>
                    <a:pt x="2873" y="487238"/>
                    <a:pt x="0" y="480303"/>
                    <a:pt x="0" y="473072"/>
                  </a:cubicBezTo>
                  <a:lnTo>
                    <a:pt x="0" y="27265"/>
                  </a:lnTo>
                  <a:cubicBezTo>
                    <a:pt x="0" y="20034"/>
                    <a:pt x="2873" y="13099"/>
                    <a:pt x="7986" y="7986"/>
                  </a:cubicBezTo>
                  <a:cubicBezTo>
                    <a:pt x="13099" y="2873"/>
                    <a:pt x="20034" y="0"/>
                    <a:pt x="2726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720080" cy="5479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182101" y="1691306"/>
            <a:ext cx="6074833" cy="753999"/>
          </a:xfrm>
          <a:prstGeom prst="rect">
            <a:avLst/>
          </a:prstGeom>
        </p:spPr>
        <p:txBody>
          <a:bodyPr wrap="square" lIns="0" tIns="0" rIns="0" bIns="0" rtlCol="0" anchor="t">
            <a:normAutofit fontScale="92500"/>
          </a:bodyPr>
          <a:lstStyle/>
          <a:p>
            <a:pPr algn="ctr">
              <a:lnSpc>
                <a:spcPts val="6048"/>
              </a:lnSpc>
            </a:pPr>
            <a:r>
              <a:rPr sz="3900" b="1" dirty="0">
                <a:solidFill>
                  <a:srgbClr val="000000"/>
                </a:solidFill>
                <a:latin typeface="Roboto Condensed"/>
              </a:rPr>
              <a:t>MODELADO DE BASE DE DATOS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984407" y="2772858"/>
            <a:ext cx="6274893" cy="1140401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ct val="0"/>
              </a:spcBef>
            </a:pPr>
            <a:r>
              <a:rPr sz="2600" dirty="0" err="1">
                <a:solidFill>
                  <a:srgbClr val="F0F0F5"/>
                </a:solidFill>
                <a:latin typeface="Noto Sans"/>
              </a:rPr>
              <a:t>cliente</a:t>
            </a:r>
            <a:r>
              <a:rPr sz="2600" dirty="0">
                <a:solidFill>
                  <a:srgbClr val="F0F0F5"/>
                </a:solidFill>
                <a:latin typeface="Noto Sans"/>
              </a:rPr>
              <a:t> · mesa · </a:t>
            </a:r>
            <a:r>
              <a:rPr sz="2600" dirty="0" err="1">
                <a:solidFill>
                  <a:srgbClr val="F0F0F5"/>
                </a:solidFill>
                <a:latin typeface="Noto Sans"/>
              </a:rPr>
              <a:t>pedido</a:t>
            </a:r>
            <a:r>
              <a:rPr sz="2600" dirty="0">
                <a:solidFill>
                  <a:srgbClr val="F0F0F5"/>
                </a:solidFill>
                <a:latin typeface="Noto Sans"/>
              </a:rPr>
              <a:t> · </a:t>
            </a:r>
            <a:r>
              <a:rPr sz="2600" dirty="0" err="1">
                <a:solidFill>
                  <a:srgbClr val="F0F0F5"/>
                </a:solidFill>
                <a:latin typeface="Noto Sans"/>
              </a:rPr>
              <a:t>detalle_pedido</a:t>
            </a:r>
            <a:r>
              <a:rPr sz="2600" dirty="0">
                <a:solidFill>
                  <a:srgbClr val="F0F0F5"/>
                </a:solidFill>
                <a:latin typeface="Noto Sans"/>
              </a:rPr>
              <a:t> · </a:t>
            </a:r>
            <a:r>
              <a:rPr sz="2600" dirty="0" err="1">
                <a:solidFill>
                  <a:srgbClr val="F0F0F5"/>
                </a:solidFill>
                <a:latin typeface="Noto Sans"/>
              </a:rPr>
              <a:t>plato</a:t>
            </a:r>
            <a:r>
              <a:rPr sz="2600" dirty="0">
                <a:solidFill>
                  <a:srgbClr val="F0F0F5"/>
                </a:solidFill>
                <a:latin typeface="Noto Sans"/>
              </a:rPr>
              <a:t> · </a:t>
            </a:r>
            <a:r>
              <a:rPr sz="2600" dirty="0" err="1">
                <a:solidFill>
                  <a:srgbClr val="F0F0F5"/>
                </a:solidFill>
                <a:latin typeface="Noto Sans"/>
              </a:rPr>
              <a:t>inventario</a:t>
            </a:r>
            <a:r>
              <a:rPr sz="2600" dirty="0">
                <a:solidFill>
                  <a:srgbClr val="F0F0F5"/>
                </a:solidFill>
                <a:latin typeface="Noto Sans"/>
              </a:rPr>
              <a:t> · </a:t>
            </a:r>
            <a:r>
              <a:rPr sz="2600" dirty="0" err="1">
                <a:solidFill>
                  <a:srgbClr val="F0F0F5"/>
                </a:solidFill>
                <a:latin typeface="Noto Sans"/>
              </a:rPr>
              <a:t>compra</a:t>
            </a:r>
            <a:r>
              <a:rPr sz="2600" dirty="0">
                <a:solidFill>
                  <a:srgbClr val="F0F0F5"/>
                </a:solidFill>
                <a:latin typeface="Noto Sans"/>
              </a:rPr>
              <a:t> · </a:t>
            </a:r>
            <a:r>
              <a:rPr sz="2600" dirty="0" err="1">
                <a:solidFill>
                  <a:srgbClr val="F0F0F5"/>
                </a:solidFill>
                <a:latin typeface="Noto Sans"/>
              </a:rPr>
              <a:t>factura</a:t>
            </a:r>
            <a:endParaRPr sz="2600" dirty="0">
              <a:solidFill>
                <a:srgbClr val="F0F0F5"/>
              </a:solidFill>
              <a:latin typeface="Noto Sa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1030729" y="2119519"/>
            <a:ext cx="3853306" cy="448309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sz="2200" b="1" dirty="0">
                <a:solidFill>
                  <a:srgbClr val="D2FFE7"/>
                </a:solidFill>
                <a:latin typeface="Noto Sans"/>
              </a:rPr>
              <a:t>01. </a:t>
            </a:r>
            <a:r>
              <a:rPr sz="2200" b="1" dirty="0" err="1">
                <a:solidFill>
                  <a:srgbClr val="D2FFE7"/>
                </a:solidFill>
                <a:latin typeface="Noto Sans"/>
              </a:rPr>
              <a:t>Núcleo</a:t>
            </a:r>
            <a:r>
              <a:rPr sz="2200" b="1" dirty="0">
                <a:solidFill>
                  <a:srgbClr val="D2FFE7"/>
                </a:solidFill>
                <a:latin typeface="Noto Sans"/>
              </a:rPr>
              <a:t> </a:t>
            </a:r>
            <a:r>
              <a:rPr sz="2200" b="1" dirty="0" err="1">
                <a:solidFill>
                  <a:srgbClr val="D2FFE7"/>
                </a:solidFill>
                <a:latin typeface="Noto Sans"/>
              </a:rPr>
              <a:t>operativo</a:t>
            </a:r>
            <a:endParaRPr sz="2200" b="1" dirty="0">
              <a:solidFill>
                <a:srgbClr val="D2FFE7"/>
              </a:solidFill>
              <a:latin typeface="Noto San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1006424" y="4950548"/>
            <a:ext cx="6274893" cy="67153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ct val="0"/>
              </a:spcBef>
            </a:pPr>
            <a:r>
              <a:rPr sz="2600" dirty="0">
                <a:solidFill>
                  <a:srgbClr val="F0F0F5"/>
                </a:solidFill>
                <a:latin typeface="Noto Sans"/>
              </a:rPr>
              <a:t>Las claves </a:t>
            </a:r>
            <a:r>
              <a:rPr sz="2600" dirty="0" err="1">
                <a:solidFill>
                  <a:srgbClr val="F0F0F5"/>
                </a:solidFill>
                <a:latin typeface="Noto Sans"/>
              </a:rPr>
              <a:t>primarias</a:t>
            </a:r>
            <a:r>
              <a:rPr sz="2600" dirty="0">
                <a:solidFill>
                  <a:srgbClr val="F0F0F5"/>
                </a:solidFill>
                <a:latin typeface="Noto Sans"/>
              </a:rPr>
              <a:t> </a:t>
            </a:r>
            <a:r>
              <a:rPr sz="2600" dirty="0" err="1">
                <a:solidFill>
                  <a:srgbClr val="F0F0F5"/>
                </a:solidFill>
                <a:latin typeface="Noto Sans"/>
              </a:rPr>
              <a:t>identifican</a:t>
            </a:r>
            <a:r>
              <a:rPr sz="2600" dirty="0">
                <a:solidFill>
                  <a:srgbClr val="F0F0F5"/>
                </a:solidFill>
                <a:latin typeface="Noto Sans"/>
              </a:rPr>
              <a:t> </a:t>
            </a:r>
            <a:r>
              <a:rPr sz="2600" dirty="0" err="1">
                <a:solidFill>
                  <a:srgbClr val="F0F0F5"/>
                </a:solidFill>
                <a:latin typeface="Noto Sans"/>
              </a:rPr>
              <a:t>registros</a:t>
            </a:r>
            <a:r>
              <a:rPr sz="2600" dirty="0">
                <a:solidFill>
                  <a:srgbClr val="F0F0F5"/>
                </a:solidFill>
                <a:latin typeface="Noto Sans"/>
              </a:rPr>
              <a:t> y las claves </a:t>
            </a:r>
            <a:r>
              <a:rPr sz="2600" dirty="0" err="1">
                <a:solidFill>
                  <a:srgbClr val="F0F0F5"/>
                </a:solidFill>
                <a:latin typeface="Noto Sans"/>
              </a:rPr>
              <a:t>foráneas</a:t>
            </a:r>
            <a:r>
              <a:rPr sz="2600" dirty="0">
                <a:solidFill>
                  <a:srgbClr val="F0F0F5"/>
                </a:solidFill>
                <a:latin typeface="Noto Sans"/>
              </a:rPr>
              <a:t> </a:t>
            </a:r>
            <a:r>
              <a:rPr sz="2600" dirty="0" err="1">
                <a:solidFill>
                  <a:srgbClr val="F0F0F5"/>
                </a:solidFill>
                <a:latin typeface="Noto Sans"/>
              </a:rPr>
              <a:t>enlazan</a:t>
            </a:r>
            <a:r>
              <a:rPr sz="2600" dirty="0">
                <a:solidFill>
                  <a:srgbClr val="F0F0F5"/>
                </a:solidFill>
                <a:latin typeface="Noto Sans"/>
              </a:rPr>
              <a:t> </a:t>
            </a:r>
            <a:r>
              <a:rPr sz="2600" dirty="0" err="1">
                <a:solidFill>
                  <a:srgbClr val="F0F0F5"/>
                </a:solidFill>
                <a:latin typeface="Noto Sans"/>
              </a:rPr>
              <a:t>pedidos</a:t>
            </a:r>
            <a:r>
              <a:rPr sz="2600" dirty="0">
                <a:solidFill>
                  <a:srgbClr val="F0F0F5"/>
                </a:solidFill>
                <a:latin typeface="Noto Sans"/>
              </a:rPr>
              <a:t> con </a:t>
            </a:r>
            <a:r>
              <a:rPr sz="2600" dirty="0" err="1">
                <a:solidFill>
                  <a:srgbClr val="F0F0F5"/>
                </a:solidFill>
                <a:latin typeface="Noto Sans"/>
              </a:rPr>
              <a:t>clientes</a:t>
            </a:r>
            <a:r>
              <a:rPr sz="2600" dirty="0">
                <a:solidFill>
                  <a:srgbClr val="F0F0F5"/>
                </a:solidFill>
                <a:latin typeface="Noto Sans"/>
              </a:rPr>
              <a:t>, mesas, </a:t>
            </a:r>
            <a:r>
              <a:rPr sz="2600" dirty="0" err="1">
                <a:solidFill>
                  <a:srgbClr val="F0F0F5"/>
                </a:solidFill>
                <a:latin typeface="Noto Sans"/>
              </a:rPr>
              <a:t>detalles</a:t>
            </a:r>
            <a:r>
              <a:rPr sz="2600" dirty="0">
                <a:solidFill>
                  <a:srgbClr val="F0F0F5"/>
                </a:solidFill>
                <a:latin typeface="Noto Sans"/>
              </a:rPr>
              <a:t>, </a:t>
            </a:r>
            <a:r>
              <a:rPr sz="2600" dirty="0" err="1">
                <a:solidFill>
                  <a:srgbClr val="F0F0F5"/>
                </a:solidFill>
                <a:latin typeface="Noto Sans"/>
              </a:rPr>
              <a:t>platos</a:t>
            </a:r>
            <a:r>
              <a:rPr sz="2600" dirty="0">
                <a:solidFill>
                  <a:srgbClr val="F0F0F5"/>
                </a:solidFill>
                <a:latin typeface="Noto Sans"/>
              </a:rPr>
              <a:t> y </a:t>
            </a:r>
            <a:r>
              <a:rPr sz="2600" dirty="0" err="1">
                <a:solidFill>
                  <a:srgbClr val="F0F0F5"/>
                </a:solidFill>
                <a:latin typeface="Noto Sans"/>
              </a:rPr>
              <a:t>facturas</a:t>
            </a:r>
            <a:r>
              <a:rPr sz="2600" dirty="0">
                <a:solidFill>
                  <a:srgbClr val="F0F0F5"/>
                </a:solidFill>
                <a:latin typeface="Noto Sans"/>
              </a:rPr>
              <a:t>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984407" y="7810500"/>
            <a:ext cx="6274893" cy="982519"/>
          </a:xfrm>
          <a:prstGeom prst="rect">
            <a:avLst/>
          </a:prstGeom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algn="l">
              <a:spcBef>
                <a:spcPct val="0"/>
              </a:spcBef>
            </a:pPr>
            <a:r>
              <a:rPr sz="2800" dirty="0">
                <a:solidFill>
                  <a:srgbClr val="F0F0F5"/>
                </a:solidFill>
                <a:latin typeface="Noto Sans"/>
              </a:rPr>
              <a:t>La </a:t>
            </a:r>
            <a:r>
              <a:rPr sz="2800" dirty="0" err="1">
                <a:solidFill>
                  <a:srgbClr val="F0F0F5"/>
                </a:solidFill>
                <a:latin typeface="Noto Sans"/>
              </a:rPr>
              <a:t>restauración</a:t>
            </a:r>
            <a:r>
              <a:rPr sz="2800" dirty="0">
                <a:solidFill>
                  <a:srgbClr val="F0F0F5"/>
                </a:solidFill>
                <a:latin typeface="Noto Sans"/>
              </a:rPr>
              <a:t> actual </a:t>
            </a:r>
            <a:r>
              <a:rPr sz="2800" dirty="0" err="1">
                <a:solidFill>
                  <a:srgbClr val="F0F0F5"/>
                </a:solidFill>
                <a:latin typeface="Noto Sans"/>
              </a:rPr>
              <a:t>muestra</a:t>
            </a:r>
            <a:r>
              <a:rPr sz="2800" dirty="0">
                <a:solidFill>
                  <a:srgbClr val="F0F0F5"/>
                </a:solidFill>
                <a:latin typeface="Noto Sans"/>
              </a:rPr>
              <a:t> 38 </a:t>
            </a:r>
            <a:r>
              <a:rPr sz="2800" dirty="0" err="1">
                <a:solidFill>
                  <a:srgbClr val="F0F0F5"/>
                </a:solidFill>
                <a:latin typeface="Noto Sans"/>
              </a:rPr>
              <a:t>tablas</a:t>
            </a:r>
            <a:r>
              <a:rPr sz="2800" dirty="0">
                <a:solidFill>
                  <a:srgbClr val="F0F0F5"/>
                </a:solidFill>
                <a:latin typeface="Noto Sans"/>
              </a:rPr>
              <a:t> </a:t>
            </a:r>
            <a:r>
              <a:rPr sz="2800" dirty="0" err="1">
                <a:solidFill>
                  <a:srgbClr val="F0F0F5"/>
                </a:solidFill>
                <a:latin typeface="Noto Sans"/>
              </a:rPr>
              <a:t>en</a:t>
            </a:r>
            <a:r>
              <a:rPr sz="2800" dirty="0">
                <a:solidFill>
                  <a:srgbClr val="F0F0F5"/>
                </a:solidFill>
                <a:latin typeface="Noto Sans"/>
              </a:rPr>
              <a:t> </a:t>
            </a:r>
            <a:r>
              <a:rPr sz="2800" dirty="0" err="1">
                <a:solidFill>
                  <a:srgbClr val="F0F0F5"/>
                </a:solidFill>
                <a:latin typeface="Noto Sans"/>
              </a:rPr>
              <a:t>el</a:t>
            </a:r>
            <a:r>
              <a:rPr sz="2800" dirty="0">
                <a:solidFill>
                  <a:srgbClr val="F0F0F5"/>
                </a:solidFill>
                <a:latin typeface="Noto Sans"/>
              </a:rPr>
              <a:t> </a:t>
            </a:r>
            <a:r>
              <a:rPr sz="2800" dirty="0" err="1">
                <a:solidFill>
                  <a:srgbClr val="F0F0F5"/>
                </a:solidFill>
                <a:latin typeface="Noto Sans"/>
              </a:rPr>
              <a:t>esquema</a:t>
            </a:r>
            <a:r>
              <a:rPr sz="2800" dirty="0">
                <a:solidFill>
                  <a:srgbClr val="F0F0F5"/>
                </a:solidFill>
                <a:latin typeface="Noto Sans"/>
              </a:rPr>
              <a:t> public, </a:t>
            </a:r>
            <a:r>
              <a:rPr sz="2800" dirty="0" err="1">
                <a:solidFill>
                  <a:srgbClr val="F0F0F5"/>
                </a:solidFill>
                <a:latin typeface="Noto Sans"/>
              </a:rPr>
              <a:t>además</a:t>
            </a:r>
            <a:r>
              <a:rPr sz="2800" dirty="0">
                <a:solidFill>
                  <a:srgbClr val="F0F0F5"/>
                </a:solidFill>
                <a:latin typeface="Noto Sans"/>
              </a:rPr>
              <a:t> de </a:t>
            </a:r>
            <a:r>
              <a:rPr sz="2800" dirty="0" err="1">
                <a:solidFill>
                  <a:srgbClr val="F0F0F5"/>
                </a:solidFill>
                <a:latin typeface="Noto Sans"/>
              </a:rPr>
              <a:t>funciones</a:t>
            </a:r>
            <a:r>
              <a:rPr sz="2800" dirty="0">
                <a:solidFill>
                  <a:srgbClr val="F0F0F5"/>
                </a:solidFill>
                <a:latin typeface="Noto Sans"/>
              </a:rPr>
              <a:t>, triggers, vistas e </a:t>
            </a:r>
            <a:r>
              <a:rPr sz="2800" dirty="0" err="1">
                <a:solidFill>
                  <a:srgbClr val="F0F0F5"/>
                </a:solidFill>
                <a:latin typeface="Noto Sans"/>
              </a:rPr>
              <a:t>índices</a:t>
            </a:r>
            <a:r>
              <a:rPr sz="2800" dirty="0">
                <a:solidFill>
                  <a:srgbClr val="F0F0F5"/>
                </a:solidFill>
                <a:latin typeface="Noto Sans"/>
              </a:rPr>
              <a:t>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006424" y="4330371"/>
            <a:ext cx="3853306" cy="513655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sz="2200" b="1" dirty="0">
                <a:solidFill>
                  <a:srgbClr val="D2FFE7"/>
                </a:solidFill>
                <a:latin typeface="Noto Sans"/>
              </a:rPr>
              <a:t>02. </a:t>
            </a:r>
            <a:r>
              <a:rPr sz="2200" b="1" dirty="0" err="1">
                <a:solidFill>
                  <a:srgbClr val="D2FFE7"/>
                </a:solidFill>
                <a:latin typeface="Noto Sans"/>
              </a:rPr>
              <a:t>Relaciones</a:t>
            </a:r>
            <a:endParaRPr sz="2200" b="1" dirty="0">
              <a:solidFill>
                <a:srgbClr val="D2FFE7"/>
              </a:solidFill>
              <a:latin typeface="Noto San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984407" y="7252073"/>
            <a:ext cx="3853306" cy="982519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sz="2200" b="1" dirty="0">
                <a:solidFill>
                  <a:srgbClr val="D2FFE7"/>
                </a:solidFill>
                <a:latin typeface="Noto Sans"/>
              </a:rPr>
              <a:t>03. </a:t>
            </a:r>
            <a:r>
              <a:rPr sz="2200" b="1" dirty="0" err="1">
                <a:solidFill>
                  <a:srgbClr val="D2FFE7"/>
                </a:solidFill>
                <a:latin typeface="Noto Sans"/>
              </a:rPr>
              <a:t>Evidencia</a:t>
            </a:r>
            <a:endParaRPr sz="2200" b="1" dirty="0">
              <a:solidFill>
                <a:srgbClr val="D2FFE7"/>
              </a:solidFill>
              <a:latin typeface="Noto San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028700" y="363507"/>
            <a:ext cx="4640513" cy="389256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sz="2200" b="1">
                <a:solidFill>
                  <a:srgbClr val="D2FFE7"/>
                </a:solidFill>
                <a:latin typeface="Roboto Condensed"/>
              </a:rPr>
              <a:t>RESTAUSTOCK IA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338452" y="400019"/>
            <a:ext cx="1309776" cy="31623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sz="1500">
                <a:solidFill>
                  <a:srgbClr val="F2F5FA"/>
                </a:solidFill>
                <a:latin typeface="Noto Sans"/>
              </a:rPr>
              <a:t>Express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530383" y="400019"/>
            <a:ext cx="1454024" cy="31623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sz="1500">
                <a:solidFill>
                  <a:srgbClr val="F2F5FA"/>
                </a:solidFill>
                <a:latin typeface="Noto Sans"/>
              </a:rPr>
              <a:t>PostgreSQL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535144" y="400019"/>
            <a:ext cx="1252571" cy="31623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sz="1500">
                <a:solidFill>
                  <a:srgbClr val="F2F5FA"/>
                </a:solidFill>
                <a:latin typeface="Noto Sans"/>
              </a:rPr>
              <a:t>Node.js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611011" y="400019"/>
            <a:ext cx="1347345" cy="31623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sz="1500">
                <a:solidFill>
                  <a:srgbClr val="14191E"/>
                </a:solidFill>
                <a:latin typeface="Noto Sans"/>
              </a:rPr>
              <a:t>UTEQ</a:t>
            </a: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93531614-C174-404B-ACAE-B38CD7A68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74" y="2925366"/>
            <a:ext cx="10149290" cy="57061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28122" y="282779"/>
            <a:ext cx="5922367" cy="598335"/>
            <a:chOff x="0" y="0"/>
            <a:chExt cx="2685658" cy="2713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85658" cy="271331"/>
            </a:xfrm>
            <a:custGeom>
              <a:avLst/>
              <a:gdLst/>
              <a:ahLst/>
              <a:cxnLst/>
              <a:rect l="l" t="t" r="r" b="b"/>
              <a:pathLst>
                <a:path w="2685658" h="271331">
                  <a:moveTo>
                    <a:pt x="13072" y="0"/>
                  </a:moveTo>
                  <a:lnTo>
                    <a:pt x="2672586" y="0"/>
                  </a:lnTo>
                  <a:cubicBezTo>
                    <a:pt x="2679805" y="0"/>
                    <a:pt x="2685658" y="5853"/>
                    <a:pt x="2685658" y="13072"/>
                  </a:cubicBezTo>
                  <a:lnTo>
                    <a:pt x="2685658" y="258259"/>
                  </a:lnTo>
                  <a:cubicBezTo>
                    <a:pt x="2685658" y="265479"/>
                    <a:pt x="2679805" y="271331"/>
                    <a:pt x="2672586" y="271331"/>
                  </a:cubicBezTo>
                  <a:lnTo>
                    <a:pt x="13072" y="271331"/>
                  </a:lnTo>
                  <a:cubicBezTo>
                    <a:pt x="5853" y="271331"/>
                    <a:pt x="0" y="265479"/>
                    <a:pt x="0" y="258259"/>
                  </a:cubicBezTo>
                  <a:lnTo>
                    <a:pt x="0" y="13072"/>
                  </a:lnTo>
                  <a:cubicBezTo>
                    <a:pt x="0" y="5853"/>
                    <a:pt x="5853" y="0"/>
                    <a:pt x="13072" y="0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685658" cy="318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310066" y="282779"/>
            <a:ext cx="1949234" cy="598335"/>
            <a:chOff x="0" y="0"/>
            <a:chExt cx="883933" cy="2713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83933" cy="271331"/>
            </a:xfrm>
            <a:custGeom>
              <a:avLst/>
              <a:gdLst/>
              <a:ahLst/>
              <a:cxnLst/>
              <a:rect l="l" t="t" r="r" b="b"/>
              <a:pathLst>
                <a:path w="883933" h="271331">
                  <a:moveTo>
                    <a:pt x="39718" y="0"/>
                  </a:moveTo>
                  <a:lnTo>
                    <a:pt x="844215" y="0"/>
                  </a:lnTo>
                  <a:cubicBezTo>
                    <a:pt x="866151" y="0"/>
                    <a:pt x="883933" y="17782"/>
                    <a:pt x="883933" y="39718"/>
                  </a:cubicBezTo>
                  <a:lnTo>
                    <a:pt x="883933" y="231614"/>
                  </a:lnTo>
                  <a:cubicBezTo>
                    <a:pt x="883933" y="253549"/>
                    <a:pt x="866151" y="271331"/>
                    <a:pt x="844215" y="271331"/>
                  </a:cubicBezTo>
                  <a:lnTo>
                    <a:pt x="39718" y="271331"/>
                  </a:lnTo>
                  <a:cubicBezTo>
                    <a:pt x="29184" y="271331"/>
                    <a:pt x="19082" y="267147"/>
                    <a:pt x="11633" y="259698"/>
                  </a:cubicBezTo>
                  <a:cubicBezTo>
                    <a:pt x="4185" y="252250"/>
                    <a:pt x="0" y="242147"/>
                    <a:pt x="0" y="231614"/>
                  </a:cubicBezTo>
                  <a:lnTo>
                    <a:pt x="0" y="39718"/>
                  </a:lnTo>
                  <a:cubicBezTo>
                    <a:pt x="0" y="29184"/>
                    <a:pt x="4185" y="19082"/>
                    <a:pt x="11633" y="11633"/>
                  </a:cubicBezTo>
                  <a:cubicBezTo>
                    <a:pt x="19082" y="4185"/>
                    <a:pt x="29184" y="0"/>
                    <a:pt x="3971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883933" cy="318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20303375">
            <a:off x="12445597" y="2376562"/>
            <a:ext cx="6073011" cy="6546704"/>
            <a:chOff x="0" y="0"/>
            <a:chExt cx="940868" cy="1014256"/>
          </a:xfrm>
        </p:grpSpPr>
        <p:sp>
          <p:nvSpPr>
            <p:cNvPr id="9" name="Freeform 9"/>
            <p:cNvSpPr/>
            <p:nvPr/>
          </p:nvSpPr>
          <p:spPr>
            <a:xfrm rot="83765">
              <a:off x="0" y="0"/>
              <a:ext cx="940868" cy="1014256"/>
            </a:xfrm>
            <a:custGeom>
              <a:avLst/>
              <a:gdLst/>
              <a:ahLst/>
              <a:cxnLst/>
              <a:rect l="l" t="t" r="r" b="b"/>
              <a:pathLst>
                <a:path w="940868" h="1014256">
                  <a:moveTo>
                    <a:pt x="38244" y="0"/>
                  </a:moveTo>
                  <a:lnTo>
                    <a:pt x="902624" y="0"/>
                  </a:lnTo>
                  <a:cubicBezTo>
                    <a:pt x="923746" y="0"/>
                    <a:pt x="940868" y="17123"/>
                    <a:pt x="940868" y="38244"/>
                  </a:cubicBezTo>
                  <a:lnTo>
                    <a:pt x="940868" y="976012"/>
                  </a:lnTo>
                  <a:cubicBezTo>
                    <a:pt x="940868" y="986155"/>
                    <a:pt x="936839" y="995882"/>
                    <a:pt x="929667" y="1003054"/>
                  </a:cubicBezTo>
                  <a:cubicBezTo>
                    <a:pt x="922495" y="1010226"/>
                    <a:pt x="912767" y="1014256"/>
                    <a:pt x="902624" y="1014256"/>
                  </a:cubicBezTo>
                  <a:lnTo>
                    <a:pt x="38244" y="1014256"/>
                  </a:lnTo>
                  <a:cubicBezTo>
                    <a:pt x="28101" y="1014256"/>
                    <a:pt x="18374" y="1010226"/>
                    <a:pt x="11201" y="1003054"/>
                  </a:cubicBezTo>
                  <a:cubicBezTo>
                    <a:pt x="4029" y="995882"/>
                    <a:pt x="0" y="986155"/>
                    <a:pt x="0" y="976012"/>
                  </a:cubicBezTo>
                  <a:lnTo>
                    <a:pt x="0" y="38244"/>
                  </a:lnTo>
                  <a:cubicBezTo>
                    <a:pt x="0" y="28101"/>
                    <a:pt x="4029" y="18374"/>
                    <a:pt x="11201" y="11201"/>
                  </a:cubicBezTo>
                  <a:cubicBezTo>
                    <a:pt x="18374" y="4029"/>
                    <a:pt x="28101" y="0"/>
                    <a:pt x="38244" y="0"/>
                  </a:cubicBezTo>
                  <a:close/>
                </a:path>
              </a:pathLst>
            </a:custGeom>
            <a:blipFill>
              <a:blip r:embed="rId2"/>
              <a:stretch>
                <a:fillRect l="-53687" r="-7810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 rot="20372907">
            <a:off x="12509536" y="2334701"/>
            <a:ext cx="6009960" cy="6546704"/>
            <a:chOff x="0" y="0"/>
            <a:chExt cx="1582870" cy="172423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82870" cy="1724235"/>
            </a:xfrm>
            <a:custGeom>
              <a:avLst/>
              <a:gdLst/>
              <a:ahLst/>
              <a:cxnLst/>
              <a:rect l="l" t="t" r="r" b="b"/>
              <a:pathLst>
                <a:path w="1582870" h="1724235">
                  <a:moveTo>
                    <a:pt x="51527" y="0"/>
                  </a:moveTo>
                  <a:lnTo>
                    <a:pt x="1531343" y="0"/>
                  </a:lnTo>
                  <a:cubicBezTo>
                    <a:pt x="1559801" y="0"/>
                    <a:pt x="1582870" y="23070"/>
                    <a:pt x="1582870" y="51527"/>
                  </a:cubicBezTo>
                  <a:lnTo>
                    <a:pt x="1582870" y="1672707"/>
                  </a:lnTo>
                  <a:cubicBezTo>
                    <a:pt x="1582870" y="1701165"/>
                    <a:pt x="1559801" y="1724235"/>
                    <a:pt x="1531343" y="1724235"/>
                  </a:cubicBezTo>
                  <a:lnTo>
                    <a:pt x="51527" y="1724235"/>
                  </a:lnTo>
                  <a:cubicBezTo>
                    <a:pt x="23070" y="1724235"/>
                    <a:pt x="0" y="1701165"/>
                    <a:pt x="0" y="1672707"/>
                  </a:cubicBezTo>
                  <a:lnTo>
                    <a:pt x="0" y="51527"/>
                  </a:lnTo>
                  <a:cubicBezTo>
                    <a:pt x="0" y="23070"/>
                    <a:pt x="23070" y="0"/>
                    <a:pt x="51527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582870" cy="17718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8700" y="1774898"/>
            <a:ext cx="7295612" cy="821055"/>
          </a:xfrm>
          <a:prstGeom prst="rect">
            <a:avLst/>
          </a:prstGeom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sz="4600" b="1">
                <a:solidFill>
                  <a:srgbClr val="D0FFE3"/>
                </a:solidFill>
                <a:latin typeface="Roboto Condensed"/>
              </a:rPr>
              <a:t>DEMOSTRACIÓN DE LA APLICACIÓN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4400" y="4269857"/>
            <a:ext cx="4378902" cy="1641549"/>
          </a:xfrm>
          <a:prstGeom prst="rect">
            <a:avLst/>
          </a:prstGeom>
        </p:spPr>
        <p:txBody>
          <a:bodyPr wrap="square" lIns="0" tIns="0" rIns="0" bIns="0" rtlCol="0" anchor="t">
            <a:normAutofit lnSpcReduction="10000"/>
          </a:bodyPr>
          <a:lstStyle/>
          <a:p>
            <a:pPr algn="l">
              <a:spcBef>
                <a:spcPct val="0"/>
              </a:spcBef>
            </a:pPr>
            <a:r>
              <a:rPr sz="2800" dirty="0" err="1">
                <a:solidFill>
                  <a:srgbClr val="F0F0F5"/>
                </a:solidFill>
                <a:latin typeface="Noto Sans"/>
              </a:rPr>
              <a:t>Indicadores</a:t>
            </a:r>
            <a:r>
              <a:rPr sz="2800" dirty="0">
                <a:solidFill>
                  <a:srgbClr val="F0F0F5"/>
                </a:solidFill>
                <a:latin typeface="Noto Sans"/>
              </a:rPr>
              <a:t>, </a:t>
            </a:r>
            <a:r>
              <a:rPr sz="2800" dirty="0" err="1">
                <a:solidFill>
                  <a:srgbClr val="F0F0F5"/>
                </a:solidFill>
                <a:latin typeface="Noto Sans"/>
              </a:rPr>
              <a:t>pedidos</a:t>
            </a:r>
            <a:r>
              <a:rPr sz="2800" dirty="0">
                <a:solidFill>
                  <a:srgbClr val="F0F0F5"/>
                </a:solidFill>
                <a:latin typeface="Noto Sans"/>
              </a:rPr>
              <a:t> y </a:t>
            </a:r>
            <a:r>
              <a:rPr sz="2800" dirty="0" err="1">
                <a:solidFill>
                  <a:srgbClr val="F0F0F5"/>
                </a:solidFill>
                <a:latin typeface="Noto Sans"/>
              </a:rPr>
              <a:t>ventas</a:t>
            </a:r>
            <a:r>
              <a:rPr sz="2800" dirty="0">
                <a:solidFill>
                  <a:srgbClr val="F0F0F5"/>
                </a:solidFill>
                <a:latin typeface="Noto Sans"/>
              </a:rPr>
              <a:t> </a:t>
            </a:r>
            <a:r>
              <a:rPr sz="2800" dirty="0" err="1">
                <a:solidFill>
                  <a:srgbClr val="F0F0F5"/>
                </a:solidFill>
                <a:latin typeface="Noto Sans"/>
              </a:rPr>
              <a:t>recientes</a:t>
            </a:r>
            <a:r>
              <a:rPr sz="2800" dirty="0">
                <a:solidFill>
                  <a:srgbClr val="F0F0F5"/>
                </a:solidFill>
                <a:latin typeface="Noto Sans"/>
              </a:rPr>
              <a:t>, </a:t>
            </a:r>
            <a:r>
              <a:rPr sz="2800" dirty="0" err="1">
                <a:solidFill>
                  <a:srgbClr val="F0F0F5"/>
                </a:solidFill>
                <a:latin typeface="Noto Sans"/>
              </a:rPr>
              <a:t>estados</a:t>
            </a:r>
            <a:r>
              <a:rPr sz="2800" dirty="0">
                <a:solidFill>
                  <a:srgbClr val="F0F0F5"/>
                </a:solidFill>
                <a:latin typeface="Noto Sans"/>
              </a:rPr>
              <a:t>, top de </a:t>
            </a:r>
            <a:r>
              <a:rPr sz="2800" dirty="0" err="1">
                <a:solidFill>
                  <a:srgbClr val="F0F0F5"/>
                </a:solidFill>
                <a:latin typeface="Noto Sans"/>
              </a:rPr>
              <a:t>platos</a:t>
            </a:r>
            <a:r>
              <a:rPr sz="2800" dirty="0">
                <a:solidFill>
                  <a:srgbClr val="F0F0F5"/>
                </a:solidFill>
                <a:latin typeface="Noto Sans"/>
              </a:rPr>
              <a:t> y </a:t>
            </a:r>
            <a:r>
              <a:rPr sz="2800" dirty="0" err="1">
                <a:solidFill>
                  <a:srgbClr val="F0F0F5"/>
                </a:solidFill>
                <a:latin typeface="Noto Sans"/>
              </a:rPr>
              <a:t>semáforo</a:t>
            </a:r>
            <a:r>
              <a:rPr sz="2800" dirty="0">
                <a:solidFill>
                  <a:srgbClr val="F0F0F5"/>
                </a:solidFill>
                <a:latin typeface="Noto Sans"/>
              </a:rPr>
              <a:t> de </a:t>
            </a:r>
            <a:r>
              <a:rPr sz="2800" dirty="0" err="1">
                <a:solidFill>
                  <a:srgbClr val="F0F0F5"/>
                </a:solidFill>
                <a:latin typeface="Noto Sans"/>
              </a:rPr>
              <a:t>inventario</a:t>
            </a:r>
            <a:r>
              <a:rPr sz="2800" dirty="0">
                <a:solidFill>
                  <a:srgbClr val="F0F0F5"/>
                </a:solidFill>
                <a:latin typeface="Noto Sans"/>
              </a:rPr>
              <a:t>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2649" y="7767637"/>
            <a:ext cx="3982094" cy="2155856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ct val="0"/>
              </a:spcBef>
            </a:pPr>
            <a:r>
              <a:rPr sz="2800" dirty="0">
                <a:solidFill>
                  <a:srgbClr val="F0F0F5"/>
                </a:solidFill>
                <a:latin typeface="Noto Sans"/>
              </a:rPr>
              <a:t>Stock por bodega, </a:t>
            </a:r>
            <a:r>
              <a:rPr sz="2800" dirty="0" err="1">
                <a:solidFill>
                  <a:srgbClr val="F0F0F5"/>
                </a:solidFill>
                <a:latin typeface="Noto Sans"/>
              </a:rPr>
              <a:t>movimientos</a:t>
            </a:r>
            <a:r>
              <a:rPr sz="2800" dirty="0">
                <a:solidFill>
                  <a:srgbClr val="F0F0F5"/>
                </a:solidFill>
                <a:latin typeface="Noto Sans"/>
              </a:rPr>
              <a:t> de entrada/</a:t>
            </a:r>
            <a:r>
              <a:rPr sz="2800" dirty="0" err="1">
                <a:solidFill>
                  <a:srgbClr val="F0F0F5"/>
                </a:solidFill>
                <a:latin typeface="Noto Sans"/>
              </a:rPr>
              <a:t>salida</a:t>
            </a:r>
            <a:r>
              <a:rPr sz="2800" dirty="0">
                <a:solidFill>
                  <a:srgbClr val="F0F0F5"/>
                </a:solidFill>
                <a:latin typeface="Noto Sans"/>
              </a:rPr>
              <a:t>/</a:t>
            </a:r>
            <a:r>
              <a:rPr sz="2800" dirty="0" err="1">
                <a:solidFill>
                  <a:srgbClr val="F0F0F5"/>
                </a:solidFill>
                <a:latin typeface="Noto Sans"/>
              </a:rPr>
              <a:t>ajuste</a:t>
            </a:r>
            <a:r>
              <a:rPr sz="2800" dirty="0">
                <a:solidFill>
                  <a:srgbClr val="F0F0F5"/>
                </a:solidFill>
                <a:latin typeface="Noto Sans"/>
              </a:rPr>
              <a:t>/</a:t>
            </a:r>
            <a:r>
              <a:rPr sz="2800" dirty="0" err="1">
                <a:solidFill>
                  <a:srgbClr val="F0F0F5"/>
                </a:solidFill>
                <a:latin typeface="Noto Sans"/>
              </a:rPr>
              <a:t>pérdida</a:t>
            </a:r>
            <a:r>
              <a:rPr sz="2800" dirty="0">
                <a:solidFill>
                  <a:srgbClr val="F0F0F5"/>
                </a:solidFill>
                <a:latin typeface="Noto Sans"/>
              </a:rPr>
              <a:t> y </a:t>
            </a:r>
            <a:r>
              <a:rPr sz="2800" dirty="0" err="1">
                <a:solidFill>
                  <a:srgbClr val="F0F0F5"/>
                </a:solidFill>
                <a:latin typeface="Noto Sans"/>
              </a:rPr>
              <a:t>compras</a:t>
            </a:r>
            <a:r>
              <a:rPr sz="2800" dirty="0">
                <a:solidFill>
                  <a:srgbClr val="F0F0F5"/>
                </a:solidFill>
                <a:latin typeface="Noto Sans"/>
              </a:rPr>
              <a:t> a </a:t>
            </a:r>
            <a:r>
              <a:rPr sz="2800" dirty="0" err="1">
                <a:solidFill>
                  <a:srgbClr val="F0F0F5"/>
                </a:solidFill>
                <a:latin typeface="Noto Sans"/>
              </a:rPr>
              <a:t>proveedores</a:t>
            </a:r>
            <a:r>
              <a:rPr sz="2800" dirty="0">
                <a:solidFill>
                  <a:srgbClr val="F0F0F5"/>
                </a:solidFill>
                <a:latin typeface="Noto Sans"/>
              </a:rPr>
              <a:t>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69936" y="4361255"/>
            <a:ext cx="4264877" cy="1641549"/>
          </a:xfrm>
          <a:prstGeom prst="rect">
            <a:avLst/>
          </a:prstGeom>
        </p:spPr>
        <p:txBody>
          <a:bodyPr wrap="square" lIns="0" tIns="0" rIns="0" bIns="0" rtlCol="0" anchor="t">
            <a:normAutofit lnSpcReduction="10000"/>
          </a:bodyPr>
          <a:lstStyle>
            <a:defPPr>
              <a:defRPr lang="en-US"/>
            </a:defPPr>
            <a:lvl1pPr>
              <a:spcBef>
                <a:spcPct val="0"/>
              </a:spcBef>
              <a:defRPr sz="2800">
                <a:solidFill>
                  <a:srgbClr val="F0F0F5"/>
                </a:solidFill>
                <a:latin typeface="Noto Sans"/>
              </a:defRPr>
            </a:lvl1pPr>
          </a:lstStyle>
          <a:p>
            <a:r>
              <a:rPr dirty="0" err="1"/>
              <a:t>Creación</a:t>
            </a:r>
            <a:r>
              <a:rPr dirty="0"/>
              <a:t> y </a:t>
            </a:r>
            <a:r>
              <a:rPr dirty="0" err="1"/>
              <a:t>seguimiento</a:t>
            </a:r>
            <a:r>
              <a:rPr dirty="0"/>
              <a:t> de </a:t>
            </a:r>
            <a:r>
              <a:rPr dirty="0" err="1"/>
              <a:t>pedidos</a:t>
            </a:r>
            <a:r>
              <a:rPr dirty="0"/>
              <a:t>, </a:t>
            </a:r>
            <a:r>
              <a:rPr dirty="0" err="1"/>
              <a:t>detalles</a:t>
            </a:r>
            <a:r>
              <a:rPr dirty="0"/>
              <a:t>, </a:t>
            </a:r>
            <a:r>
              <a:rPr dirty="0" err="1"/>
              <a:t>estados</a:t>
            </a:r>
            <a:r>
              <a:rPr dirty="0"/>
              <a:t> y cola de </a:t>
            </a:r>
            <a:r>
              <a:rPr dirty="0" err="1"/>
              <a:t>preparación</a:t>
            </a:r>
            <a:r>
              <a:rPr dirty="0"/>
              <a:t>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75317" y="7786687"/>
            <a:ext cx="3982093" cy="2217534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ct val="0"/>
              </a:spcBef>
            </a:pPr>
            <a:r>
              <a:rPr sz="2800" dirty="0" err="1">
                <a:solidFill>
                  <a:srgbClr val="F0F0F5"/>
                </a:solidFill>
                <a:latin typeface="Noto Sans"/>
              </a:rPr>
              <a:t>Facturación</a:t>
            </a:r>
            <a:r>
              <a:rPr sz="2800" dirty="0">
                <a:solidFill>
                  <a:srgbClr val="F0F0F5"/>
                </a:solidFill>
                <a:latin typeface="Noto Sans"/>
              </a:rPr>
              <a:t>, </a:t>
            </a:r>
            <a:r>
              <a:rPr sz="2800" dirty="0" err="1">
                <a:solidFill>
                  <a:srgbClr val="F0F0F5"/>
                </a:solidFill>
                <a:latin typeface="Noto Sans"/>
              </a:rPr>
              <a:t>métodos</a:t>
            </a:r>
            <a:r>
              <a:rPr sz="2800" dirty="0">
                <a:solidFill>
                  <a:srgbClr val="F0F0F5"/>
                </a:solidFill>
                <a:latin typeface="Noto Sans"/>
              </a:rPr>
              <a:t> de </a:t>
            </a:r>
            <a:r>
              <a:rPr sz="2800" dirty="0" err="1">
                <a:solidFill>
                  <a:srgbClr val="F0F0F5"/>
                </a:solidFill>
                <a:latin typeface="Noto Sans"/>
              </a:rPr>
              <a:t>pago</a:t>
            </a:r>
            <a:r>
              <a:rPr sz="2800" dirty="0">
                <a:solidFill>
                  <a:srgbClr val="F0F0F5"/>
                </a:solidFill>
                <a:latin typeface="Noto Sans"/>
              </a:rPr>
              <a:t>, </a:t>
            </a:r>
            <a:r>
              <a:rPr sz="2800" dirty="0" err="1">
                <a:solidFill>
                  <a:srgbClr val="F0F0F5"/>
                </a:solidFill>
                <a:latin typeface="Noto Sans"/>
              </a:rPr>
              <a:t>usuarios</a:t>
            </a:r>
            <a:r>
              <a:rPr sz="2800" dirty="0">
                <a:solidFill>
                  <a:srgbClr val="F0F0F5"/>
                </a:solidFill>
                <a:latin typeface="Noto Sans"/>
              </a:rPr>
              <a:t>, </a:t>
            </a:r>
            <a:r>
              <a:rPr sz="2800" dirty="0" err="1">
                <a:solidFill>
                  <a:srgbClr val="F0F0F5"/>
                </a:solidFill>
                <a:latin typeface="Noto Sans"/>
              </a:rPr>
              <a:t>respaldos</a:t>
            </a:r>
            <a:r>
              <a:rPr sz="2800" dirty="0">
                <a:solidFill>
                  <a:srgbClr val="F0F0F5"/>
                </a:solidFill>
                <a:latin typeface="Noto Sans"/>
              </a:rPr>
              <a:t>, </a:t>
            </a:r>
            <a:r>
              <a:rPr sz="2800" dirty="0" err="1">
                <a:solidFill>
                  <a:srgbClr val="F0F0F5"/>
                </a:solidFill>
                <a:latin typeface="Noto Sans"/>
              </a:rPr>
              <a:t>auditoría</a:t>
            </a:r>
            <a:r>
              <a:rPr sz="2800" dirty="0">
                <a:solidFill>
                  <a:srgbClr val="F0F0F5"/>
                </a:solidFill>
                <a:latin typeface="Noto Sans"/>
              </a:rPr>
              <a:t>, </a:t>
            </a:r>
            <a:r>
              <a:rPr sz="2800" dirty="0" err="1">
                <a:solidFill>
                  <a:srgbClr val="F0F0F5"/>
                </a:solidFill>
                <a:latin typeface="Noto Sans"/>
              </a:rPr>
              <a:t>alertas</a:t>
            </a:r>
            <a:r>
              <a:rPr sz="2800" dirty="0">
                <a:solidFill>
                  <a:srgbClr val="F0F0F5"/>
                </a:solidFill>
                <a:latin typeface="Noto Sans"/>
              </a:rPr>
              <a:t> e IA.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2649" y="3645835"/>
            <a:ext cx="3314700" cy="821054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sz="3200" b="1" dirty="0">
                <a:solidFill>
                  <a:srgbClr val="D2FFE7"/>
                </a:solidFill>
                <a:latin typeface="Noto Sans"/>
              </a:rPr>
              <a:t>01. Dashboard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84235" y="6711983"/>
            <a:ext cx="3974578" cy="91661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sz="3200" b="1" dirty="0">
                <a:solidFill>
                  <a:srgbClr val="D2FFE7"/>
                </a:solidFill>
                <a:latin typeface="Noto Sans"/>
              </a:rPr>
              <a:t>03. </a:t>
            </a:r>
            <a:r>
              <a:rPr sz="3200" b="1" dirty="0" err="1">
                <a:solidFill>
                  <a:srgbClr val="D2FFE7"/>
                </a:solidFill>
                <a:latin typeface="Noto Sans"/>
              </a:rPr>
              <a:t>Inventario</a:t>
            </a:r>
            <a:r>
              <a:rPr sz="3200" b="1" dirty="0">
                <a:solidFill>
                  <a:srgbClr val="D2FFE7"/>
                </a:solidFill>
                <a:latin typeface="Noto Sans"/>
              </a:rPr>
              <a:t> y </a:t>
            </a:r>
            <a:r>
              <a:rPr sz="3200" b="1" dirty="0" err="1">
                <a:solidFill>
                  <a:srgbClr val="D2FFE7"/>
                </a:solidFill>
                <a:latin typeface="Noto Sans"/>
              </a:rPr>
              <a:t>compras</a:t>
            </a:r>
            <a:endParaRPr sz="3200" b="1" dirty="0">
              <a:solidFill>
                <a:srgbClr val="D2FFE7"/>
              </a:solidFill>
              <a:latin typeface="Noto Sa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363404" y="3715634"/>
            <a:ext cx="3862754" cy="866360"/>
          </a:xfrm>
          <a:prstGeom prst="rect">
            <a:avLst/>
          </a:prstGeom>
        </p:spPr>
        <p:txBody>
          <a:bodyPr wrap="square" lIns="0" tIns="0" rIns="0" bIns="0" rtlCol="0" anchor="t">
            <a:normAutofit fontScale="92500"/>
          </a:bodyPr>
          <a:lstStyle>
            <a:defPPr>
              <a:defRPr lang="en-US"/>
            </a:defPPr>
            <a:lvl1pPr>
              <a:lnSpc>
                <a:spcPts val="3639"/>
              </a:lnSpc>
              <a:spcBef>
                <a:spcPct val="0"/>
              </a:spcBef>
              <a:defRPr sz="3200" b="1">
                <a:solidFill>
                  <a:srgbClr val="D2FFE7"/>
                </a:solidFill>
                <a:latin typeface="Noto Sans"/>
              </a:defRPr>
            </a:lvl1pPr>
          </a:lstStyle>
          <a:p>
            <a:r>
              <a:rPr dirty="0"/>
              <a:t>02. </a:t>
            </a:r>
            <a:r>
              <a:rPr sz="3500" dirty="0" err="1"/>
              <a:t>Pedidos</a:t>
            </a:r>
            <a:r>
              <a:rPr dirty="0"/>
              <a:t> y </a:t>
            </a:r>
            <a:r>
              <a:rPr dirty="0" err="1"/>
              <a:t>cocina</a:t>
            </a:r>
            <a:endParaRPr dirty="0"/>
          </a:p>
        </p:txBody>
      </p:sp>
      <p:sp>
        <p:nvSpPr>
          <p:cNvPr id="21" name="TextBox 21"/>
          <p:cNvSpPr txBox="1"/>
          <p:nvPr/>
        </p:nvSpPr>
        <p:spPr>
          <a:xfrm>
            <a:off x="6475317" y="6791645"/>
            <a:ext cx="3982093" cy="858812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sz="3200" b="1" dirty="0">
                <a:solidFill>
                  <a:srgbClr val="D2FFE7"/>
                </a:solidFill>
                <a:latin typeface="Noto Sans"/>
              </a:rPr>
              <a:t>04. </a:t>
            </a:r>
            <a:r>
              <a:rPr sz="3200" b="1" dirty="0" err="1">
                <a:solidFill>
                  <a:srgbClr val="D2FFE7"/>
                </a:solidFill>
                <a:latin typeface="Noto Sans"/>
              </a:rPr>
              <a:t>Facturación</a:t>
            </a:r>
            <a:r>
              <a:rPr sz="3200" b="1" dirty="0">
                <a:solidFill>
                  <a:srgbClr val="D2FFE7"/>
                </a:solidFill>
                <a:latin typeface="Noto Sans"/>
              </a:rPr>
              <a:t> y control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8700" y="363507"/>
            <a:ext cx="4640513" cy="389256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sz="2200" b="1">
                <a:solidFill>
                  <a:srgbClr val="D2FFE7"/>
                </a:solidFill>
                <a:latin typeface="Roboto Condensed"/>
              </a:rPr>
              <a:t>RESTAUSTOCK IA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338452" y="400019"/>
            <a:ext cx="1309776" cy="31623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sz="1500">
                <a:solidFill>
                  <a:srgbClr val="F2F5FA"/>
                </a:solidFill>
                <a:latin typeface="Noto Sans"/>
              </a:rPr>
              <a:t>Express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530383" y="400019"/>
            <a:ext cx="1454024" cy="31623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sz="1500">
                <a:solidFill>
                  <a:srgbClr val="F2F5FA"/>
                </a:solidFill>
                <a:latin typeface="Noto Sans"/>
              </a:rPr>
              <a:t>PostgreSQL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535144" y="400019"/>
            <a:ext cx="1252571" cy="31623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sz="1500">
                <a:solidFill>
                  <a:srgbClr val="F2F5FA"/>
                </a:solidFill>
                <a:latin typeface="Noto Sans"/>
              </a:rPr>
              <a:t>Node.js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611011" y="400019"/>
            <a:ext cx="1347345" cy="31623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sz="1500">
                <a:solidFill>
                  <a:srgbClr val="14191E"/>
                </a:solidFill>
                <a:latin typeface="Noto Sans"/>
              </a:rPr>
              <a:t>UTEQ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28122" y="282779"/>
            <a:ext cx="5922367" cy="598335"/>
            <a:chOff x="0" y="0"/>
            <a:chExt cx="2685658" cy="2713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85658" cy="271331"/>
            </a:xfrm>
            <a:custGeom>
              <a:avLst/>
              <a:gdLst/>
              <a:ahLst/>
              <a:cxnLst/>
              <a:rect l="l" t="t" r="r" b="b"/>
              <a:pathLst>
                <a:path w="2685658" h="271331">
                  <a:moveTo>
                    <a:pt x="13072" y="0"/>
                  </a:moveTo>
                  <a:lnTo>
                    <a:pt x="2672586" y="0"/>
                  </a:lnTo>
                  <a:cubicBezTo>
                    <a:pt x="2679805" y="0"/>
                    <a:pt x="2685658" y="5853"/>
                    <a:pt x="2685658" y="13072"/>
                  </a:cubicBezTo>
                  <a:lnTo>
                    <a:pt x="2685658" y="258259"/>
                  </a:lnTo>
                  <a:cubicBezTo>
                    <a:pt x="2685658" y="265479"/>
                    <a:pt x="2679805" y="271331"/>
                    <a:pt x="2672586" y="271331"/>
                  </a:cubicBezTo>
                  <a:lnTo>
                    <a:pt x="13072" y="271331"/>
                  </a:lnTo>
                  <a:cubicBezTo>
                    <a:pt x="5853" y="271331"/>
                    <a:pt x="0" y="265479"/>
                    <a:pt x="0" y="258259"/>
                  </a:cubicBezTo>
                  <a:lnTo>
                    <a:pt x="0" y="13072"/>
                  </a:lnTo>
                  <a:cubicBezTo>
                    <a:pt x="0" y="5853"/>
                    <a:pt x="5853" y="0"/>
                    <a:pt x="13072" y="0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685658" cy="318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310066" y="282779"/>
            <a:ext cx="1949234" cy="598335"/>
            <a:chOff x="0" y="0"/>
            <a:chExt cx="883933" cy="2713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83933" cy="271331"/>
            </a:xfrm>
            <a:custGeom>
              <a:avLst/>
              <a:gdLst/>
              <a:ahLst/>
              <a:cxnLst/>
              <a:rect l="l" t="t" r="r" b="b"/>
              <a:pathLst>
                <a:path w="883933" h="271331">
                  <a:moveTo>
                    <a:pt x="39718" y="0"/>
                  </a:moveTo>
                  <a:lnTo>
                    <a:pt x="844215" y="0"/>
                  </a:lnTo>
                  <a:cubicBezTo>
                    <a:pt x="866151" y="0"/>
                    <a:pt x="883933" y="17782"/>
                    <a:pt x="883933" y="39718"/>
                  </a:cubicBezTo>
                  <a:lnTo>
                    <a:pt x="883933" y="231614"/>
                  </a:lnTo>
                  <a:cubicBezTo>
                    <a:pt x="883933" y="253549"/>
                    <a:pt x="866151" y="271331"/>
                    <a:pt x="844215" y="271331"/>
                  </a:cubicBezTo>
                  <a:lnTo>
                    <a:pt x="39718" y="271331"/>
                  </a:lnTo>
                  <a:cubicBezTo>
                    <a:pt x="29184" y="271331"/>
                    <a:pt x="19082" y="267147"/>
                    <a:pt x="11633" y="259698"/>
                  </a:cubicBezTo>
                  <a:cubicBezTo>
                    <a:pt x="4185" y="252250"/>
                    <a:pt x="0" y="242147"/>
                    <a:pt x="0" y="231614"/>
                  </a:cubicBezTo>
                  <a:lnTo>
                    <a:pt x="0" y="39718"/>
                  </a:lnTo>
                  <a:cubicBezTo>
                    <a:pt x="0" y="29184"/>
                    <a:pt x="4185" y="19082"/>
                    <a:pt x="11633" y="11633"/>
                  </a:cubicBezTo>
                  <a:cubicBezTo>
                    <a:pt x="19082" y="4185"/>
                    <a:pt x="29184" y="0"/>
                    <a:pt x="3971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883933" cy="318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23889" y="3537117"/>
            <a:ext cx="5639538" cy="6349864"/>
            <a:chOff x="0" y="0"/>
            <a:chExt cx="740902" cy="88636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40902" cy="886361"/>
            </a:xfrm>
            <a:custGeom>
              <a:avLst/>
              <a:gdLst/>
              <a:ahLst/>
              <a:cxnLst/>
              <a:rect l="l" t="t" r="r" b="b"/>
              <a:pathLst>
                <a:path w="740902" h="886361">
                  <a:moveTo>
                    <a:pt x="37234" y="0"/>
                  </a:moveTo>
                  <a:lnTo>
                    <a:pt x="703667" y="0"/>
                  </a:lnTo>
                  <a:cubicBezTo>
                    <a:pt x="713543" y="0"/>
                    <a:pt x="723013" y="3923"/>
                    <a:pt x="729996" y="10906"/>
                  </a:cubicBezTo>
                  <a:cubicBezTo>
                    <a:pt x="736979" y="17888"/>
                    <a:pt x="740902" y="27359"/>
                    <a:pt x="740902" y="37234"/>
                  </a:cubicBezTo>
                  <a:lnTo>
                    <a:pt x="740902" y="849127"/>
                  </a:lnTo>
                  <a:cubicBezTo>
                    <a:pt x="740902" y="859002"/>
                    <a:pt x="736979" y="868473"/>
                    <a:pt x="729996" y="875455"/>
                  </a:cubicBezTo>
                  <a:cubicBezTo>
                    <a:pt x="723013" y="882438"/>
                    <a:pt x="713543" y="886361"/>
                    <a:pt x="703667" y="886361"/>
                  </a:cubicBezTo>
                  <a:lnTo>
                    <a:pt x="37234" y="886361"/>
                  </a:lnTo>
                  <a:cubicBezTo>
                    <a:pt x="27359" y="886361"/>
                    <a:pt x="17888" y="882438"/>
                    <a:pt x="10906" y="875455"/>
                  </a:cubicBezTo>
                  <a:cubicBezTo>
                    <a:pt x="3923" y="868473"/>
                    <a:pt x="0" y="859002"/>
                    <a:pt x="0" y="849127"/>
                  </a:cubicBezTo>
                  <a:lnTo>
                    <a:pt x="0" y="37234"/>
                  </a:lnTo>
                  <a:cubicBezTo>
                    <a:pt x="0" y="27359"/>
                    <a:pt x="3923" y="17888"/>
                    <a:pt x="10906" y="10906"/>
                  </a:cubicBezTo>
                  <a:cubicBezTo>
                    <a:pt x="17888" y="3923"/>
                    <a:pt x="27359" y="0"/>
                    <a:pt x="37234" y="0"/>
                  </a:cubicBezTo>
                  <a:close/>
                </a:path>
              </a:pathLst>
            </a:custGeom>
            <a:blipFill>
              <a:blip r:embed="rId2"/>
              <a:stretch>
                <a:fillRect l="-29658" r="-29658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4724400" y="1671652"/>
            <a:ext cx="7878879" cy="760095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6000"/>
              </a:lnSpc>
            </a:pPr>
            <a:r>
              <a:rPr sz="4600" b="1" dirty="0">
                <a:solidFill>
                  <a:srgbClr val="D0FFE3"/>
                </a:solidFill>
                <a:latin typeface="Roboto Condensed"/>
              </a:rPr>
              <a:t>CARGA MASIVA DE DATOS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363507"/>
            <a:ext cx="4640513" cy="389256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sz="2200" b="1">
                <a:solidFill>
                  <a:srgbClr val="D2FFE7"/>
                </a:solidFill>
                <a:latin typeface="Roboto Condensed"/>
              </a:rPr>
              <a:t>RESTAUSTOCK IA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338452" y="400019"/>
            <a:ext cx="1309776" cy="31623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sz="1500">
                <a:solidFill>
                  <a:srgbClr val="F2F5FA"/>
                </a:solidFill>
                <a:latin typeface="Noto Sans"/>
              </a:rPr>
              <a:t>Express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30383" y="400019"/>
            <a:ext cx="1454024" cy="31623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sz="1500">
                <a:solidFill>
                  <a:srgbClr val="F2F5FA"/>
                </a:solidFill>
                <a:latin typeface="Noto Sans"/>
              </a:rPr>
              <a:t>PostgreSQL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535144" y="400019"/>
            <a:ext cx="1252571" cy="31623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sz="1500">
                <a:solidFill>
                  <a:srgbClr val="F2F5FA"/>
                </a:solidFill>
                <a:latin typeface="Noto Sans"/>
              </a:rPr>
              <a:t>Node.js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611011" y="400019"/>
            <a:ext cx="1347345" cy="31623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sz="1500">
                <a:solidFill>
                  <a:srgbClr val="14191E"/>
                </a:solidFill>
                <a:latin typeface="Noto Sans"/>
              </a:rPr>
              <a:t>UTEQ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7803" y="3568290"/>
            <a:ext cx="3951646" cy="1045845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sz="3200" b="1" dirty="0">
                <a:solidFill>
                  <a:srgbClr val="F0F0F5"/>
                </a:solidFill>
                <a:latin typeface="Noto Sans"/>
              </a:rPr>
              <a:t>SQL de </a:t>
            </a:r>
            <a:r>
              <a:rPr sz="3200" b="1" dirty="0" err="1">
                <a:solidFill>
                  <a:srgbClr val="F0F0F5"/>
                </a:solidFill>
                <a:latin typeface="Noto Sans"/>
              </a:rPr>
              <a:t>verificación</a:t>
            </a:r>
            <a:endParaRPr sz="3200" b="1" dirty="0">
              <a:solidFill>
                <a:srgbClr val="F0F0F5"/>
              </a:solidFill>
              <a:latin typeface="Noto Sa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57803" y="6241732"/>
            <a:ext cx="4308191" cy="2265045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ct val="0"/>
              </a:spcBef>
            </a:pPr>
            <a:r>
              <a:rPr sz="2000" dirty="0">
                <a:solidFill>
                  <a:srgbClr val="F0F0F5"/>
                </a:solidFill>
                <a:latin typeface="Noto Sans"/>
              </a:rPr>
              <a:t>La base final </a:t>
            </a:r>
            <a:r>
              <a:rPr sz="2000" dirty="0" err="1">
                <a:solidFill>
                  <a:srgbClr val="F0F0F5"/>
                </a:solidFill>
                <a:latin typeface="Noto Sans"/>
              </a:rPr>
              <a:t>conserva</a:t>
            </a:r>
            <a:r>
              <a:rPr sz="2000" dirty="0">
                <a:solidFill>
                  <a:srgbClr val="F0F0F5"/>
                </a:solidFill>
                <a:latin typeface="Noto Sans"/>
              </a:rPr>
              <a:t> </a:t>
            </a:r>
            <a:r>
              <a:rPr sz="2000" dirty="0" err="1">
                <a:solidFill>
                  <a:srgbClr val="F0F0F5"/>
                </a:solidFill>
                <a:latin typeface="Noto Sans"/>
              </a:rPr>
              <a:t>tablas</a:t>
            </a:r>
            <a:r>
              <a:rPr sz="2000" dirty="0">
                <a:solidFill>
                  <a:srgbClr val="F0F0F5"/>
                </a:solidFill>
                <a:latin typeface="Noto Sans"/>
              </a:rPr>
              <a:t> *_</a:t>
            </a:r>
            <a:r>
              <a:rPr sz="2000" dirty="0" err="1">
                <a:solidFill>
                  <a:srgbClr val="F0F0F5"/>
                </a:solidFill>
                <a:latin typeface="Noto Sans"/>
              </a:rPr>
              <a:t>practica</a:t>
            </a:r>
            <a:r>
              <a:rPr sz="2000" dirty="0">
                <a:solidFill>
                  <a:srgbClr val="F0F0F5"/>
                </a:solidFill>
                <a:latin typeface="Noto Sans"/>
              </a:rPr>
              <a:t> para </a:t>
            </a:r>
            <a:r>
              <a:rPr sz="2000" dirty="0" err="1">
                <a:solidFill>
                  <a:srgbClr val="F0F0F5"/>
                </a:solidFill>
                <a:latin typeface="Noto Sans"/>
              </a:rPr>
              <a:t>demostrar</a:t>
            </a:r>
            <a:r>
              <a:rPr sz="2000" dirty="0">
                <a:solidFill>
                  <a:srgbClr val="F0F0F5"/>
                </a:solidFill>
                <a:latin typeface="Noto Sans"/>
              </a:rPr>
              <a:t> </a:t>
            </a:r>
            <a:r>
              <a:rPr sz="2000" dirty="0" err="1">
                <a:solidFill>
                  <a:srgbClr val="F0F0F5"/>
                </a:solidFill>
                <a:latin typeface="Noto Sans"/>
              </a:rPr>
              <a:t>volumen</a:t>
            </a:r>
            <a:r>
              <a:rPr sz="2000" dirty="0">
                <a:solidFill>
                  <a:srgbClr val="F0F0F5"/>
                </a:solidFill>
                <a:latin typeface="Noto Sans"/>
              </a:rPr>
              <a:t> sin </a:t>
            </a:r>
            <a:r>
              <a:rPr sz="2000" dirty="0" err="1">
                <a:solidFill>
                  <a:srgbClr val="F0F0F5"/>
                </a:solidFill>
                <a:latin typeface="Noto Sans"/>
              </a:rPr>
              <a:t>afectar</a:t>
            </a:r>
            <a:r>
              <a:rPr sz="2000" dirty="0">
                <a:solidFill>
                  <a:srgbClr val="F0F0F5"/>
                </a:solidFill>
                <a:latin typeface="Noto Sans"/>
              </a:rPr>
              <a:t> las </a:t>
            </a:r>
            <a:r>
              <a:rPr sz="2000" dirty="0" err="1">
                <a:solidFill>
                  <a:srgbClr val="F0F0F5"/>
                </a:solidFill>
                <a:latin typeface="Noto Sans"/>
              </a:rPr>
              <a:t>tablas</a:t>
            </a:r>
            <a:r>
              <a:rPr sz="2000" dirty="0">
                <a:solidFill>
                  <a:srgbClr val="F0F0F5"/>
                </a:solidFill>
                <a:latin typeface="Noto Sans"/>
              </a:rPr>
              <a:t> </a:t>
            </a:r>
            <a:r>
              <a:rPr sz="2000" dirty="0" err="1">
                <a:solidFill>
                  <a:srgbClr val="F0F0F5"/>
                </a:solidFill>
                <a:latin typeface="Noto Sans"/>
              </a:rPr>
              <a:t>operativas</a:t>
            </a:r>
            <a:r>
              <a:rPr sz="2000" dirty="0">
                <a:solidFill>
                  <a:srgbClr val="F0F0F5"/>
                </a:solidFill>
                <a:latin typeface="Noto Sans"/>
              </a:rPr>
              <a:t>. El </a:t>
            </a:r>
            <a:r>
              <a:rPr sz="2000" dirty="0" err="1">
                <a:solidFill>
                  <a:srgbClr val="F0F0F5"/>
                </a:solidFill>
                <a:latin typeface="Noto Sans"/>
              </a:rPr>
              <a:t>conteo</a:t>
            </a:r>
            <a:r>
              <a:rPr sz="2000" dirty="0">
                <a:solidFill>
                  <a:srgbClr val="F0F0F5"/>
                </a:solidFill>
                <a:latin typeface="Noto Sans"/>
              </a:rPr>
              <a:t> se </a:t>
            </a:r>
            <a:r>
              <a:rPr sz="2000" dirty="0" err="1">
                <a:solidFill>
                  <a:srgbClr val="F0F0F5"/>
                </a:solidFill>
                <a:latin typeface="Noto Sans"/>
              </a:rPr>
              <a:t>verifica</a:t>
            </a:r>
            <a:r>
              <a:rPr sz="2000" dirty="0">
                <a:solidFill>
                  <a:srgbClr val="F0F0F5"/>
                </a:solidFill>
                <a:latin typeface="Noto Sans"/>
              </a:rPr>
              <a:t> </a:t>
            </a:r>
            <a:r>
              <a:rPr sz="2000" dirty="0" err="1">
                <a:solidFill>
                  <a:srgbClr val="F0F0F5"/>
                </a:solidFill>
                <a:latin typeface="Noto Sans"/>
              </a:rPr>
              <a:t>desde</a:t>
            </a:r>
            <a:r>
              <a:rPr sz="2000" dirty="0">
                <a:solidFill>
                  <a:srgbClr val="F0F0F5"/>
                </a:solidFill>
                <a:latin typeface="Noto Sans"/>
              </a:rPr>
              <a:t> </a:t>
            </a:r>
            <a:r>
              <a:rPr sz="2000" dirty="0" err="1">
                <a:solidFill>
                  <a:srgbClr val="F0F0F5"/>
                </a:solidFill>
                <a:latin typeface="Noto Sans"/>
              </a:rPr>
              <a:t>pg_stat_user_tables</a:t>
            </a:r>
            <a:r>
              <a:rPr sz="2000" dirty="0">
                <a:solidFill>
                  <a:srgbClr val="F0F0F5"/>
                </a:solidFill>
                <a:latin typeface="Noto Sans"/>
              </a:rPr>
              <a:t>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306794" y="7374255"/>
            <a:ext cx="3951646" cy="1884045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>
              <a:spcBef>
                <a:spcPct val="0"/>
              </a:spcBef>
            </a:pPr>
            <a:r>
              <a:rPr sz="2000" dirty="0">
                <a:solidFill>
                  <a:srgbClr val="F0F0F5"/>
                </a:solidFill>
                <a:latin typeface="Noto Sans"/>
              </a:rPr>
              <a:t>1. </a:t>
            </a:r>
            <a:r>
              <a:rPr sz="2000" dirty="0" err="1">
                <a:solidFill>
                  <a:srgbClr val="F0F0F5"/>
                </a:solidFill>
                <a:latin typeface="Noto Sans"/>
              </a:rPr>
              <a:t>Ejecutar</a:t>
            </a:r>
            <a:r>
              <a:rPr sz="2000" dirty="0">
                <a:solidFill>
                  <a:srgbClr val="F0F0F5"/>
                </a:solidFill>
                <a:latin typeface="Noto Sans"/>
              </a:rPr>
              <a:t> </a:t>
            </a:r>
            <a:r>
              <a:rPr sz="2000" dirty="0" err="1">
                <a:solidFill>
                  <a:srgbClr val="F0F0F5"/>
                </a:solidFill>
                <a:latin typeface="Noto Sans"/>
              </a:rPr>
              <a:t>el</a:t>
            </a:r>
            <a:r>
              <a:rPr sz="2000" dirty="0">
                <a:solidFill>
                  <a:srgbClr val="F0F0F5"/>
                </a:solidFill>
                <a:latin typeface="Noto Sans"/>
              </a:rPr>
              <a:t> </a:t>
            </a:r>
            <a:r>
              <a:rPr sz="2000" dirty="0" err="1">
                <a:solidFill>
                  <a:srgbClr val="F0F0F5"/>
                </a:solidFill>
                <a:latin typeface="Noto Sans"/>
              </a:rPr>
              <a:t>conteo</a:t>
            </a:r>
            <a:r>
              <a:rPr sz="2000" dirty="0">
                <a:solidFill>
                  <a:srgbClr val="F0F0F5"/>
                </a:solidFill>
                <a:latin typeface="Noto Sans"/>
              </a:rPr>
              <a:t> </a:t>
            </a:r>
            <a:r>
              <a:rPr sz="2000" dirty="0" err="1">
                <a:solidFill>
                  <a:srgbClr val="F0F0F5"/>
                </a:solidFill>
                <a:latin typeface="Noto Sans"/>
              </a:rPr>
              <a:t>en</a:t>
            </a:r>
            <a:r>
              <a:rPr sz="2000" dirty="0">
                <a:solidFill>
                  <a:srgbClr val="F0F0F5"/>
                </a:solidFill>
                <a:latin typeface="Noto Sans"/>
              </a:rPr>
              <a:t> </a:t>
            </a:r>
            <a:r>
              <a:rPr sz="2000" dirty="0" err="1">
                <a:solidFill>
                  <a:srgbClr val="F0F0F5"/>
                </a:solidFill>
                <a:latin typeface="Noto Sans"/>
              </a:rPr>
              <a:t>pgAdmin</a:t>
            </a:r>
            <a:r>
              <a:rPr sz="2000" dirty="0">
                <a:solidFill>
                  <a:srgbClr val="F0F0F5"/>
                </a:solidFill>
                <a:latin typeface="Noto Sans"/>
              </a:rPr>
              <a:t>.</a:t>
            </a:r>
          </a:p>
          <a:p>
            <a:r>
              <a:rPr sz="2000" dirty="0">
                <a:solidFill>
                  <a:srgbClr val="F0F0F5"/>
                </a:solidFill>
                <a:latin typeface="Noto Sans"/>
              </a:rPr>
              <a:t>2. </a:t>
            </a:r>
            <a:r>
              <a:rPr sz="2000" dirty="0" err="1">
                <a:solidFill>
                  <a:srgbClr val="F0F0F5"/>
                </a:solidFill>
                <a:latin typeface="Noto Sans"/>
              </a:rPr>
              <a:t>Mostrar</a:t>
            </a:r>
            <a:r>
              <a:rPr sz="2000" dirty="0">
                <a:solidFill>
                  <a:srgbClr val="F0F0F5"/>
                </a:solidFill>
                <a:latin typeface="Noto Sans"/>
              </a:rPr>
              <a:t> que </a:t>
            </a:r>
            <a:r>
              <a:rPr sz="2000" dirty="0" err="1">
                <a:solidFill>
                  <a:srgbClr val="F0F0F5"/>
                </a:solidFill>
                <a:latin typeface="Noto Sans"/>
              </a:rPr>
              <a:t>el</a:t>
            </a:r>
            <a:r>
              <a:rPr sz="2000" dirty="0">
                <a:solidFill>
                  <a:srgbClr val="F0F0F5"/>
                </a:solidFill>
                <a:latin typeface="Noto Sans"/>
              </a:rPr>
              <a:t> total </a:t>
            </a:r>
            <a:r>
              <a:rPr sz="2000" dirty="0" err="1">
                <a:solidFill>
                  <a:srgbClr val="F0F0F5"/>
                </a:solidFill>
                <a:latin typeface="Noto Sans"/>
              </a:rPr>
              <a:t>supera</a:t>
            </a:r>
            <a:r>
              <a:rPr sz="2000" dirty="0">
                <a:solidFill>
                  <a:srgbClr val="F0F0F5"/>
                </a:solidFill>
                <a:latin typeface="Noto Sans"/>
              </a:rPr>
              <a:t> </a:t>
            </a:r>
            <a:r>
              <a:rPr sz="2000" dirty="0" err="1">
                <a:solidFill>
                  <a:srgbClr val="F0F0F5"/>
                </a:solidFill>
                <a:latin typeface="Noto Sans"/>
              </a:rPr>
              <a:t>el</a:t>
            </a:r>
            <a:r>
              <a:rPr sz="2000" dirty="0">
                <a:solidFill>
                  <a:srgbClr val="F0F0F5"/>
                </a:solidFill>
                <a:latin typeface="Noto Sans"/>
              </a:rPr>
              <a:t> </a:t>
            </a:r>
            <a:r>
              <a:rPr sz="2000" dirty="0" err="1">
                <a:solidFill>
                  <a:srgbClr val="F0F0F5"/>
                </a:solidFill>
                <a:latin typeface="Noto Sans"/>
              </a:rPr>
              <a:t>millón</a:t>
            </a:r>
            <a:r>
              <a:rPr sz="2000" dirty="0">
                <a:solidFill>
                  <a:srgbClr val="F0F0F5"/>
                </a:solidFill>
                <a:latin typeface="Noto Sans"/>
              </a:rPr>
              <a:t>.</a:t>
            </a:r>
          </a:p>
          <a:p>
            <a:r>
              <a:rPr sz="2000" dirty="0">
                <a:solidFill>
                  <a:srgbClr val="F0F0F5"/>
                </a:solidFill>
                <a:latin typeface="Noto Sans"/>
              </a:rPr>
              <a:t>3. </a:t>
            </a:r>
            <a:r>
              <a:rPr sz="2000" dirty="0" err="1">
                <a:solidFill>
                  <a:srgbClr val="F0F0F5"/>
                </a:solidFill>
                <a:latin typeface="Noto Sans"/>
              </a:rPr>
              <a:t>Explicar</a:t>
            </a:r>
            <a:r>
              <a:rPr sz="2000" dirty="0">
                <a:solidFill>
                  <a:srgbClr val="F0F0F5"/>
                </a:solidFill>
                <a:latin typeface="Noto Sans"/>
              </a:rPr>
              <a:t> </a:t>
            </a:r>
            <a:r>
              <a:rPr sz="2000" dirty="0" err="1">
                <a:solidFill>
                  <a:srgbClr val="F0F0F5"/>
                </a:solidFill>
                <a:latin typeface="Noto Sans"/>
              </a:rPr>
              <a:t>el</a:t>
            </a:r>
            <a:r>
              <a:rPr sz="2000" dirty="0">
                <a:solidFill>
                  <a:srgbClr val="F0F0F5"/>
                </a:solidFill>
                <a:latin typeface="Noto Sans"/>
              </a:rPr>
              <a:t> </a:t>
            </a:r>
            <a:r>
              <a:rPr sz="2000" dirty="0" err="1">
                <a:solidFill>
                  <a:srgbClr val="F0F0F5"/>
                </a:solidFill>
                <a:latin typeface="Noto Sans"/>
              </a:rPr>
              <a:t>uso</a:t>
            </a:r>
            <a:r>
              <a:rPr sz="2000" dirty="0">
                <a:solidFill>
                  <a:srgbClr val="F0F0F5"/>
                </a:solidFill>
                <a:latin typeface="Noto Sans"/>
              </a:rPr>
              <a:t> de </a:t>
            </a:r>
            <a:r>
              <a:rPr sz="2000" dirty="0" err="1">
                <a:solidFill>
                  <a:srgbClr val="F0F0F5"/>
                </a:solidFill>
                <a:latin typeface="Noto Sans"/>
              </a:rPr>
              <a:t>estas</a:t>
            </a:r>
            <a:r>
              <a:rPr sz="2000" dirty="0">
                <a:solidFill>
                  <a:srgbClr val="F0F0F5"/>
                </a:solidFill>
                <a:latin typeface="Noto Sans"/>
              </a:rPr>
              <a:t> </a:t>
            </a:r>
            <a:r>
              <a:rPr sz="2000" dirty="0" err="1">
                <a:solidFill>
                  <a:srgbClr val="F0F0F5"/>
                </a:solidFill>
                <a:latin typeface="Noto Sans"/>
              </a:rPr>
              <a:t>tablas</a:t>
            </a:r>
            <a:r>
              <a:rPr sz="2000" dirty="0">
                <a:solidFill>
                  <a:srgbClr val="F0F0F5"/>
                </a:solidFill>
                <a:latin typeface="Noto Sans"/>
              </a:rPr>
              <a:t> para </a:t>
            </a:r>
            <a:r>
              <a:rPr sz="2000" dirty="0" err="1">
                <a:solidFill>
                  <a:srgbClr val="F0F0F5"/>
                </a:solidFill>
                <a:latin typeface="Noto Sans"/>
              </a:rPr>
              <a:t>índices</a:t>
            </a:r>
            <a:r>
              <a:rPr sz="2000" dirty="0">
                <a:solidFill>
                  <a:srgbClr val="F0F0F5"/>
                </a:solidFill>
                <a:latin typeface="Noto Sans"/>
              </a:rPr>
              <a:t> y </a:t>
            </a:r>
            <a:r>
              <a:rPr sz="2000" dirty="0" err="1">
                <a:solidFill>
                  <a:srgbClr val="F0F0F5"/>
                </a:solidFill>
                <a:latin typeface="Noto Sans"/>
              </a:rPr>
              <a:t>rendimiento</a:t>
            </a:r>
            <a:r>
              <a:rPr sz="2000" dirty="0">
                <a:solidFill>
                  <a:srgbClr val="F0F0F5"/>
                </a:solidFill>
                <a:latin typeface="Noto Sans"/>
              </a:rPr>
              <a:t>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603279" y="3854031"/>
            <a:ext cx="4655161" cy="1713086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r">
              <a:spcBef>
                <a:spcPct val="0"/>
              </a:spcBef>
            </a:pPr>
            <a:r>
              <a:rPr sz="2400" dirty="0" err="1">
                <a:solidFill>
                  <a:srgbClr val="F0F0F5"/>
                </a:solidFill>
                <a:latin typeface="Noto Sans"/>
              </a:rPr>
              <a:t>pedido_practica</a:t>
            </a:r>
            <a:r>
              <a:rPr sz="2400" dirty="0">
                <a:solidFill>
                  <a:srgbClr val="F0F0F5"/>
                </a:solidFill>
                <a:latin typeface="Noto Sans"/>
              </a:rPr>
              <a:t> · </a:t>
            </a:r>
            <a:r>
              <a:rPr sz="2400" dirty="0" err="1">
                <a:solidFill>
                  <a:srgbClr val="F0F0F5"/>
                </a:solidFill>
                <a:latin typeface="Noto Sans"/>
              </a:rPr>
              <a:t>detalle_pedido_practica</a:t>
            </a:r>
            <a:r>
              <a:rPr sz="2400" dirty="0">
                <a:solidFill>
                  <a:srgbClr val="F0F0F5"/>
                </a:solidFill>
                <a:latin typeface="Noto Sans"/>
              </a:rPr>
              <a:t> · </a:t>
            </a:r>
            <a:r>
              <a:rPr sz="2400" dirty="0" err="1">
                <a:solidFill>
                  <a:srgbClr val="F0F0F5"/>
                </a:solidFill>
                <a:latin typeface="Noto Sans"/>
              </a:rPr>
              <a:t>factura_practica</a:t>
            </a:r>
            <a:endParaRPr sz="2400" dirty="0">
              <a:solidFill>
                <a:srgbClr val="F0F0F5"/>
              </a:solidFill>
              <a:latin typeface="Noto Sa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383734" y="5567117"/>
            <a:ext cx="3984386" cy="760094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sz="2400" b="1" dirty="0">
                <a:solidFill>
                  <a:srgbClr val="D2FFE7"/>
                </a:solidFill>
                <a:latin typeface="Noto Sans"/>
              </a:rPr>
              <a:t>≥ 1.000.000 REGISTROS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789434" y="6678084"/>
            <a:ext cx="4522109" cy="703357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sz="2400" b="1" dirty="0">
                <a:solidFill>
                  <a:srgbClr val="D2FFE7"/>
                </a:solidFill>
                <a:latin typeface="Noto Sans"/>
              </a:rPr>
              <a:t>EVIDENCIA EN LA DEFENSA</a:t>
            </a:r>
          </a:p>
        </p:txBody>
      </p:sp>
      <p:pic>
        <p:nvPicPr>
          <p:cNvPr id="22" name="Picture 21" descr="load_sq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3086" y="2594610"/>
            <a:ext cx="7904423" cy="50977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28122" y="282779"/>
            <a:ext cx="5922367" cy="598335"/>
            <a:chOff x="0" y="0"/>
            <a:chExt cx="2685658" cy="2713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85658" cy="271331"/>
            </a:xfrm>
            <a:custGeom>
              <a:avLst/>
              <a:gdLst/>
              <a:ahLst/>
              <a:cxnLst/>
              <a:rect l="l" t="t" r="r" b="b"/>
              <a:pathLst>
                <a:path w="2685658" h="271331">
                  <a:moveTo>
                    <a:pt x="13072" y="0"/>
                  </a:moveTo>
                  <a:lnTo>
                    <a:pt x="2672586" y="0"/>
                  </a:lnTo>
                  <a:cubicBezTo>
                    <a:pt x="2679805" y="0"/>
                    <a:pt x="2685658" y="5853"/>
                    <a:pt x="2685658" y="13072"/>
                  </a:cubicBezTo>
                  <a:lnTo>
                    <a:pt x="2685658" y="258259"/>
                  </a:lnTo>
                  <a:cubicBezTo>
                    <a:pt x="2685658" y="265479"/>
                    <a:pt x="2679805" y="271331"/>
                    <a:pt x="2672586" y="271331"/>
                  </a:cubicBezTo>
                  <a:lnTo>
                    <a:pt x="13072" y="271331"/>
                  </a:lnTo>
                  <a:cubicBezTo>
                    <a:pt x="5853" y="271331"/>
                    <a:pt x="0" y="265479"/>
                    <a:pt x="0" y="258259"/>
                  </a:cubicBezTo>
                  <a:lnTo>
                    <a:pt x="0" y="13072"/>
                  </a:lnTo>
                  <a:cubicBezTo>
                    <a:pt x="0" y="5853"/>
                    <a:pt x="5853" y="0"/>
                    <a:pt x="13072" y="0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685658" cy="318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310066" y="282779"/>
            <a:ext cx="1949234" cy="598335"/>
            <a:chOff x="0" y="0"/>
            <a:chExt cx="883933" cy="2713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83933" cy="271331"/>
            </a:xfrm>
            <a:custGeom>
              <a:avLst/>
              <a:gdLst/>
              <a:ahLst/>
              <a:cxnLst/>
              <a:rect l="l" t="t" r="r" b="b"/>
              <a:pathLst>
                <a:path w="883933" h="271331">
                  <a:moveTo>
                    <a:pt x="39718" y="0"/>
                  </a:moveTo>
                  <a:lnTo>
                    <a:pt x="844215" y="0"/>
                  </a:lnTo>
                  <a:cubicBezTo>
                    <a:pt x="866151" y="0"/>
                    <a:pt x="883933" y="17782"/>
                    <a:pt x="883933" y="39718"/>
                  </a:cubicBezTo>
                  <a:lnTo>
                    <a:pt x="883933" y="231614"/>
                  </a:lnTo>
                  <a:cubicBezTo>
                    <a:pt x="883933" y="253549"/>
                    <a:pt x="866151" y="271331"/>
                    <a:pt x="844215" y="271331"/>
                  </a:cubicBezTo>
                  <a:lnTo>
                    <a:pt x="39718" y="271331"/>
                  </a:lnTo>
                  <a:cubicBezTo>
                    <a:pt x="29184" y="271331"/>
                    <a:pt x="19082" y="267147"/>
                    <a:pt x="11633" y="259698"/>
                  </a:cubicBezTo>
                  <a:cubicBezTo>
                    <a:pt x="4185" y="252250"/>
                    <a:pt x="0" y="242147"/>
                    <a:pt x="0" y="231614"/>
                  </a:cubicBezTo>
                  <a:lnTo>
                    <a:pt x="0" y="39718"/>
                  </a:lnTo>
                  <a:cubicBezTo>
                    <a:pt x="0" y="29184"/>
                    <a:pt x="4185" y="19082"/>
                    <a:pt x="11633" y="11633"/>
                  </a:cubicBezTo>
                  <a:cubicBezTo>
                    <a:pt x="19082" y="4185"/>
                    <a:pt x="29184" y="0"/>
                    <a:pt x="3971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883933" cy="318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3543300"/>
            <a:ext cx="9849948" cy="5715649"/>
            <a:chOff x="0" y="0"/>
            <a:chExt cx="2594225" cy="136915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94225" cy="1369155"/>
            </a:xfrm>
            <a:custGeom>
              <a:avLst/>
              <a:gdLst/>
              <a:ahLst/>
              <a:cxnLst/>
              <a:rect l="l" t="t" r="r" b="b"/>
              <a:pathLst>
                <a:path w="2594225" h="1369155">
                  <a:moveTo>
                    <a:pt x="18078" y="0"/>
                  </a:moveTo>
                  <a:lnTo>
                    <a:pt x="2576147" y="0"/>
                  </a:lnTo>
                  <a:cubicBezTo>
                    <a:pt x="2586131" y="0"/>
                    <a:pt x="2594225" y="8094"/>
                    <a:pt x="2594225" y="18078"/>
                  </a:cubicBezTo>
                  <a:lnTo>
                    <a:pt x="2594225" y="1351078"/>
                  </a:lnTo>
                  <a:cubicBezTo>
                    <a:pt x="2594225" y="1355872"/>
                    <a:pt x="2592320" y="1360470"/>
                    <a:pt x="2588930" y="1363861"/>
                  </a:cubicBezTo>
                  <a:cubicBezTo>
                    <a:pt x="2585540" y="1367251"/>
                    <a:pt x="2580942" y="1369155"/>
                    <a:pt x="2576147" y="1369155"/>
                  </a:cubicBezTo>
                  <a:lnTo>
                    <a:pt x="18078" y="1369155"/>
                  </a:lnTo>
                  <a:cubicBezTo>
                    <a:pt x="8094" y="1369155"/>
                    <a:pt x="0" y="1361062"/>
                    <a:pt x="0" y="1351078"/>
                  </a:cubicBezTo>
                  <a:lnTo>
                    <a:pt x="0" y="18078"/>
                  </a:lnTo>
                  <a:cubicBezTo>
                    <a:pt x="0" y="8094"/>
                    <a:pt x="8094" y="0"/>
                    <a:pt x="1807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594225" cy="14167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8700" y="2324100"/>
            <a:ext cx="7139757" cy="740283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5856"/>
              </a:lnSpc>
            </a:pPr>
            <a:r>
              <a:rPr sz="4600" b="1">
                <a:solidFill>
                  <a:srgbClr val="D0FFE3"/>
                </a:solidFill>
                <a:latin typeface="Roboto Condensed"/>
              </a:rPr>
              <a:t>CONTROL DE USUARIOS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95400" y="4696164"/>
            <a:ext cx="7973136" cy="4333536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endParaRPr sz="1600" dirty="0">
              <a:solidFill>
                <a:srgbClr val="28323C"/>
              </a:solidFill>
              <a:latin typeface="Noto San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28700" y="363507"/>
            <a:ext cx="4640513" cy="389256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sz="2200" b="1">
                <a:solidFill>
                  <a:srgbClr val="D2FFE7"/>
                </a:solidFill>
                <a:latin typeface="Roboto Condensed"/>
              </a:rPr>
              <a:t>RESTAUSTOCK IA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338452" y="400019"/>
            <a:ext cx="1309776" cy="31623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sz="1500">
                <a:solidFill>
                  <a:srgbClr val="F2F5FA"/>
                </a:solidFill>
                <a:latin typeface="Noto Sans"/>
              </a:rPr>
              <a:t>Express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530383" y="400019"/>
            <a:ext cx="1454024" cy="31623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sz="1500">
                <a:solidFill>
                  <a:srgbClr val="F2F5FA"/>
                </a:solidFill>
                <a:latin typeface="Noto Sans"/>
              </a:rPr>
              <a:t>PostgreSQL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535144" y="400019"/>
            <a:ext cx="1252571" cy="31623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sz="1500">
                <a:solidFill>
                  <a:srgbClr val="F2F5FA"/>
                </a:solidFill>
                <a:latin typeface="Noto Sans"/>
              </a:rPr>
              <a:t>Node.js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611011" y="400019"/>
            <a:ext cx="1347345" cy="31623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sz="1500">
                <a:solidFill>
                  <a:srgbClr val="14191E"/>
                </a:solidFill>
                <a:latin typeface="Noto Sans"/>
              </a:rPr>
              <a:t>UTEQ</a:t>
            </a:r>
          </a:p>
        </p:txBody>
      </p:sp>
      <p:pic>
        <p:nvPicPr>
          <p:cNvPr id="23" name="Picture 22" descr="pgadmin_roles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4978" y="1192131"/>
            <a:ext cx="6286500" cy="8815554"/>
          </a:xfrm>
          <a:prstGeom prst="rect">
            <a:avLst/>
          </a:prstGeom>
        </p:spPr>
      </p:pic>
      <p:sp>
        <p:nvSpPr>
          <p:cNvPr id="24" name="Rectangle 1">
            <a:extLst>
              <a:ext uri="{FF2B5EF4-FFF2-40B4-BE49-F238E27FC236}">
                <a16:creationId xmlns:a16="http://schemas.microsoft.com/office/drawing/2014/main" id="{7EB6ADE0-771D-4DAC-BC50-499808BE6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1174" y="4117003"/>
            <a:ext cx="9525000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C" altLang="es-EC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01. AUTENTICACIÓN Y PERMISOS</a:t>
            </a:r>
            <a:endParaRPr kumimoji="0" lang="es-EC" altLang="es-EC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C" altLang="es-EC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Cada usuario inicia sesión con una cuenta propia de PostgreSQL.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C" altLang="es-EC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 permisos se administran mediante </a:t>
            </a:r>
            <a:r>
              <a:rPr kumimoji="0" lang="es-EC" altLang="es-EC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roles y privilegios, </a:t>
            </a:r>
            <a:r>
              <a:rPr kumimoji="0" lang="es-EC" altLang="es-EC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utilizando </a:t>
            </a:r>
            <a:r>
              <a:rPr kumimoji="0" lang="es-EC" altLang="es-EC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GRANT</a:t>
            </a:r>
            <a:r>
              <a:rPr kumimoji="0" lang="es-EC" altLang="es-EC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y </a:t>
            </a:r>
            <a:r>
              <a:rPr kumimoji="0" lang="es-EC" altLang="es-EC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REVOKE</a:t>
            </a:r>
            <a:r>
              <a:rPr kumimoji="0" lang="es-EC" altLang="es-EC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para restringir operaciones no autorizadas.</a:t>
            </a:r>
            <a:endParaRPr kumimoji="0" lang="es-EC" altLang="es-EC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C" altLang="es-EC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02. ROLES Y RESPONSABILIDADES</a:t>
            </a:r>
            <a:endParaRPr kumimoji="0" lang="es-EC" altLang="es-EC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C" altLang="es-EC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Administrador:</a:t>
            </a:r>
            <a:r>
              <a:rPr kumimoji="0" lang="es-EC" altLang="es-EC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acceso completo al sistema.</a:t>
            </a:r>
            <a:br>
              <a:rPr kumimoji="0" lang="es-EC" altLang="es-EC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EC" altLang="es-EC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Mesero:</a:t>
            </a:r>
            <a:r>
              <a:rPr kumimoji="0" lang="es-EC" altLang="es-EC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gestión de mesas y pedidos.</a:t>
            </a:r>
            <a:br>
              <a:rPr kumimoji="0" lang="es-EC" altLang="es-EC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EC" altLang="es-EC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Cajero:</a:t>
            </a:r>
            <a:r>
              <a:rPr kumimoji="0" lang="es-EC" altLang="es-EC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facturación y pagos.</a:t>
            </a:r>
            <a:br>
              <a:rPr kumimoji="0" lang="es-EC" altLang="es-EC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EC" altLang="es-EC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Cocina:</a:t>
            </a:r>
            <a:r>
              <a:rPr kumimoji="0" lang="es-EC" altLang="es-EC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gestión de pedidos en preparación.</a:t>
            </a:r>
            <a:br>
              <a:rPr kumimoji="0" lang="es-EC" altLang="es-EC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EC" altLang="es-EC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Inventario:</a:t>
            </a:r>
            <a:r>
              <a:rPr kumimoji="0" lang="es-EC" altLang="es-EC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control de productos, stock y compras.</a:t>
            </a:r>
            <a:br>
              <a:rPr kumimoji="0" lang="es-EC" altLang="es-EC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EC" altLang="es-EC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IA:</a:t>
            </a:r>
            <a:r>
              <a:rPr kumimoji="0" lang="es-EC" altLang="es-EC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acceso a funciones y alertas autorizadas.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C" altLang="es-EC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Cada perfil visualiza únicamente los módulos y operaciones que necesita.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659811" y="400019"/>
            <a:ext cx="5208734" cy="920197"/>
            <a:chOff x="0" y="0"/>
            <a:chExt cx="1843723" cy="5003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43723" cy="500337"/>
            </a:xfrm>
            <a:custGeom>
              <a:avLst/>
              <a:gdLst/>
              <a:ahLst/>
              <a:cxnLst/>
              <a:rect l="l" t="t" r="r" b="b"/>
              <a:pathLst>
                <a:path w="1843723" h="500337">
                  <a:moveTo>
                    <a:pt x="25436" y="0"/>
                  </a:moveTo>
                  <a:lnTo>
                    <a:pt x="1818287" y="0"/>
                  </a:lnTo>
                  <a:cubicBezTo>
                    <a:pt x="1825033" y="0"/>
                    <a:pt x="1831503" y="2680"/>
                    <a:pt x="1836273" y="7450"/>
                  </a:cubicBezTo>
                  <a:cubicBezTo>
                    <a:pt x="1841043" y="12220"/>
                    <a:pt x="1843723" y="18690"/>
                    <a:pt x="1843723" y="25436"/>
                  </a:cubicBezTo>
                  <a:lnTo>
                    <a:pt x="1843723" y="474901"/>
                  </a:lnTo>
                  <a:cubicBezTo>
                    <a:pt x="1843723" y="481647"/>
                    <a:pt x="1841043" y="488117"/>
                    <a:pt x="1836273" y="492887"/>
                  </a:cubicBezTo>
                  <a:cubicBezTo>
                    <a:pt x="1831503" y="497657"/>
                    <a:pt x="1825033" y="500337"/>
                    <a:pt x="1818287" y="500337"/>
                  </a:cubicBezTo>
                  <a:lnTo>
                    <a:pt x="25436" y="500337"/>
                  </a:lnTo>
                  <a:cubicBezTo>
                    <a:pt x="18690" y="500337"/>
                    <a:pt x="12220" y="497657"/>
                    <a:pt x="7450" y="492887"/>
                  </a:cubicBezTo>
                  <a:cubicBezTo>
                    <a:pt x="2680" y="488117"/>
                    <a:pt x="0" y="481647"/>
                    <a:pt x="0" y="474901"/>
                  </a:cubicBezTo>
                  <a:lnTo>
                    <a:pt x="0" y="25436"/>
                  </a:lnTo>
                  <a:cubicBezTo>
                    <a:pt x="0" y="18690"/>
                    <a:pt x="2680" y="12220"/>
                    <a:pt x="7450" y="7450"/>
                  </a:cubicBezTo>
                  <a:cubicBezTo>
                    <a:pt x="12220" y="2680"/>
                    <a:pt x="18690" y="0"/>
                    <a:pt x="2543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843723" cy="5479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28122" y="282779"/>
            <a:ext cx="5922367" cy="598335"/>
            <a:chOff x="0" y="0"/>
            <a:chExt cx="2685658" cy="2713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85658" cy="271331"/>
            </a:xfrm>
            <a:custGeom>
              <a:avLst/>
              <a:gdLst/>
              <a:ahLst/>
              <a:cxnLst/>
              <a:rect l="l" t="t" r="r" b="b"/>
              <a:pathLst>
                <a:path w="2685658" h="271331">
                  <a:moveTo>
                    <a:pt x="13072" y="0"/>
                  </a:moveTo>
                  <a:lnTo>
                    <a:pt x="2672586" y="0"/>
                  </a:lnTo>
                  <a:cubicBezTo>
                    <a:pt x="2679805" y="0"/>
                    <a:pt x="2685658" y="5853"/>
                    <a:pt x="2685658" y="13072"/>
                  </a:cubicBezTo>
                  <a:lnTo>
                    <a:pt x="2685658" y="258259"/>
                  </a:lnTo>
                  <a:cubicBezTo>
                    <a:pt x="2685658" y="265479"/>
                    <a:pt x="2679805" y="271331"/>
                    <a:pt x="2672586" y="271331"/>
                  </a:cubicBezTo>
                  <a:lnTo>
                    <a:pt x="13072" y="271331"/>
                  </a:lnTo>
                  <a:cubicBezTo>
                    <a:pt x="5853" y="271331"/>
                    <a:pt x="0" y="265479"/>
                    <a:pt x="0" y="258259"/>
                  </a:cubicBezTo>
                  <a:lnTo>
                    <a:pt x="0" y="13072"/>
                  </a:lnTo>
                  <a:cubicBezTo>
                    <a:pt x="0" y="5853"/>
                    <a:pt x="5853" y="0"/>
                    <a:pt x="13072" y="0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685658" cy="318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310066" y="282779"/>
            <a:ext cx="1949234" cy="598335"/>
            <a:chOff x="0" y="0"/>
            <a:chExt cx="883933" cy="27133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83933" cy="271331"/>
            </a:xfrm>
            <a:custGeom>
              <a:avLst/>
              <a:gdLst/>
              <a:ahLst/>
              <a:cxnLst/>
              <a:rect l="l" t="t" r="r" b="b"/>
              <a:pathLst>
                <a:path w="883933" h="271331">
                  <a:moveTo>
                    <a:pt x="39718" y="0"/>
                  </a:moveTo>
                  <a:lnTo>
                    <a:pt x="844215" y="0"/>
                  </a:lnTo>
                  <a:cubicBezTo>
                    <a:pt x="866151" y="0"/>
                    <a:pt x="883933" y="17782"/>
                    <a:pt x="883933" y="39718"/>
                  </a:cubicBezTo>
                  <a:lnTo>
                    <a:pt x="883933" y="231614"/>
                  </a:lnTo>
                  <a:cubicBezTo>
                    <a:pt x="883933" y="253549"/>
                    <a:pt x="866151" y="271331"/>
                    <a:pt x="844215" y="271331"/>
                  </a:cubicBezTo>
                  <a:lnTo>
                    <a:pt x="39718" y="271331"/>
                  </a:lnTo>
                  <a:cubicBezTo>
                    <a:pt x="29184" y="271331"/>
                    <a:pt x="19082" y="267147"/>
                    <a:pt x="11633" y="259698"/>
                  </a:cubicBezTo>
                  <a:cubicBezTo>
                    <a:pt x="4185" y="252250"/>
                    <a:pt x="0" y="242147"/>
                    <a:pt x="0" y="231614"/>
                  </a:cubicBezTo>
                  <a:lnTo>
                    <a:pt x="0" y="39718"/>
                  </a:lnTo>
                  <a:cubicBezTo>
                    <a:pt x="0" y="29184"/>
                    <a:pt x="4185" y="19082"/>
                    <a:pt x="11633" y="11633"/>
                  </a:cubicBezTo>
                  <a:cubicBezTo>
                    <a:pt x="19082" y="4185"/>
                    <a:pt x="29184" y="0"/>
                    <a:pt x="3971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883933" cy="318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2867804" y="370691"/>
            <a:ext cx="6796853" cy="821055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6719"/>
              </a:lnSpc>
            </a:pPr>
            <a:r>
              <a:rPr sz="4200" b="1" dirty="0">
                <a:solidFill>
                  <a:srgbClr val="000000"/>
                </a:solidFill>
                <a:latin typeface="Roboto Condensed"/>
              </a:rPr>
              <a:t>AUDITORÍA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363507"/>
            <a:ext cx="4640513" cy="389256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sz="2200" b="1">
                <a:solidFill>
                  <a:srgbClr val="D2FFE7"/>
                </a:solidFill>
                <a:latin typeface="Roboto Condensed"/>
              </a:rPr>
              <a:t>RESTAUSTOCK IA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338452" y="400019"/>
            <a:ext cx="1309776" cy="31623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sz="1500">
                <a:solidFill>
                  <a:srgbClr val="F2F5FA"/>
                </a:solidFill>
                <a:latin typeface="Noto Sans"/>
              </a:rPr>
              <a:t>Express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530383" y="400019"/>
            <a:ext cx="1454024" cy="31623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sz="1500">
                <a:solidFill>
                  <a:srgbClr val="F2F5FA"/>
                </a:solidFill>
                <a:latin typeface="Noto Sans"/>
              </a:rPr>
              <a:t>PostgreSQL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535144" y="400019"/>
            <a:ext cx="1252571" cy="31623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sz="1500">
                <a:solidFill>
                  <a:srgbClr val="F2F5FA"/>
                </a:solidFill>
                <a:latin typeface="Noto Sans"/>
              </a:rPr>
              <a:t>Node.js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611011" y="400019"/>
            <a:ext cx="1347345" cy="31623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sz="1500">
                <a:solidFill>
                  <a:srgbClr val="14191E"/>
                </a:solidFill>
                <a:latin typeface="Noto Sans"/>
              </a:rPr>
              <a:t>UTEQ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023360"/>
            <a:ext cx="420624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endParaRPr sz="1800" b="1" dirty="0">
              <a:solidFill>
                <a:srgbClr val="FFFFFF"/>
              </a:solidFill>
              <a:latin typeface="Noto Sans"/>
            </a:endParaRPr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40BD2330-1DB3-413D-8772-A0EC96E33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90" y="1502378"/>
            <a:ext cx="12384087" cy="6487349"/>
          </a:xfrm>
          <a:prstGeom prst="rect">
            <a:avLst/>
          </a:prstGeom>
        </p:spPr>
      </p:pic>
      <p:sp>
        <p:nvSpPr>
          <p:cNvPr id="33" name="Rectangle 3">
            <a:extLst>
              <a:ext uri="{FF2B5EF4-FFF2-40B4-BE49-F238E27FC236}">
                <a16:creationId xmlns:a16="http://schemas.microsoft.com/office/drawing/2014/main" id="{98FFA0DD-B709-44E7-BA75-F52153258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32739" y="1172696"/>
            <a:ext cx="5147860" cy="8279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C" altLang="es-EC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OPERACIONES AUDITADAS</a:t>
            </a:r>
            <a:br>
              <a:rPr kumimoji="0" lang="es-EC" altLang="es-EC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s-EC" altLang="es-EC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Registro de acciones </a:t>
            </a:r>
            <a:r>
              <a:rPr kumimoji="0" lang="es-EC" altLang="es-EC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INSERT</a:t>
            </a:r>
            <a:r>
              <a:rPr kumimoji="0" lang="es-EC" altLang="es-EC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 </a:t>
            </a:r>
            <a:r>
              <a:rPr kumimoji="0" lang="es-EC" altLang="es-EC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UPDATE</a:t>
            </a:r>
            <a:r>
              <a:rPr kumimoji="0" lang="es-EC" altLang="es-EC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y </a:t>
            </a:r>
            <a:r>
              <a:rPr kumimoji="0" lang="es-EC" altLang="es-EC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DELETE</a:t>
            </a:r>
            <a:r>
              <a:rPr kumimoji="0" lang="es-EC" altLang="es-EC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sobre operaciones importantes del sistema.</a:t>
            </a:r>
            <a:endParaRPr kumimoji="0" lang="es-EC" altLang="es-EC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C" altLang="es-EC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TRAZABILIDAD</a:t>
            </a:r>
            <a:br>
              <a:rPr kumimoji="0" lang="es-EC" altLang="es-EC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s-EC" altLang="es-EC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La bitácora almacena fecha, usuario, tabla afectada, acción realizada, identificador y detalle de cada operación.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C" altLang="es-EC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CONSULTA DESDE LA APP</a:t>
            </a:r>
            <a:br>
              <a:rPr kumimoji="0" lang="es-EC" altLang="es-EC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s-EC" altLang="es-EC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El administrador puede visualizar los eventos registrados directamente desde el módulo de Auditoría.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C" altLang="es-EC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EVIDENCIA ACTUAL</a:t>
            </a:r>
            <a:br>
              <a:rPr kumimoji="0" lang="es-EC" altLang="es-EC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s-EC" altLang="es-EC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300 eventos registrados: 102 inserciones y 198 actualizaciones.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D6C6B867-A1EB-43DC-AA98-F8E61F6CE4E5}"/>
              </a:ext>
            </a:extLst>
          </p:cNvPr>
          <p:cNvSpPr txBox="1"/>
          <p:nvPr/>
        </p:nvSpPr>
        <p:spPr>
          <a:xfrm>
            <a:off x="386382" y="8323219"/>
            <a:ext cx="1188181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</a:rPr>
              <a:t>Descripción:</a:t>
            </a:r>
            <a:br>
              <a:rPr lang="es-MX" sz="2400" dirty="0">
                <a:solidFill>
                  <a:schemeClr val="bg1"/>
                </a:solidFill>
              </a:rPr>
            </a:br>
            <a:r>
              <a:rPr lang="es-MX" sz="2400" dirty="0">
                <a:solidFill>
                  <a:schemeClr val="bg1"/>
                </a:solidFill>
              </a:rPr>
              <a:t>La auditoría permite controlar y rastrear las operaciones críticas realizadas en la base de datos, proporcionando evidencia de quién realizó cada cambio y sobre qué información.</a:t>
            </a:r>
            <a:endParaRPr lang="es-EC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5"/>
          <p:cNvGrpSpPr/>
          <p:nvPr/>
        </p:nvGrpSpPr>
        <p:grpSpPr>
          <a:xfrm>
            <a:off x="9128122" y="282779"/>
            <a:ext cx="5922367" cy="598335"/>
            <a:chOff x="0" y="0"/>
            <a:chExt cx="2685658" cy="27133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685658" cy="271331"/>
            </a:xfrm>
            <a:custGeom>
              <a:avLst/>
              <a:gdLst/>
              <a:ahLst/>
              <a:cxnLst/>
              <a:rect l="l" t="t" r="r" b="b"/>
              <a:pathLst>
                <a:path w="2685658" h="271331">
                  <a:moveTo>
                    <a:pt x="13072" y="0"/>
                  </a:moveTo>
                  <a:lnTo>
                    <a:pt x="2672586" y="0"/>
                  </a:lnTo>
                  <a:cubicBezTo>
                    <a:pt x="2679805" y="0"/>
                    <a:pt x="2685658" y="5853"/>
                    <a:pt x="2685658" y="13072"/>
                  </a:cubicBezTo>
                  <a:lnTo>
                    <a:pt x="2685658" y="258259"/>
                  </a:lnTo>
                  <a:cubicBezTo>
                    <a:pt x="2685658" y="265479"/>
                    <a:pt x="2679805" y="271331"/>
                    <a:pt x="2672586" y="271331"/>
                  </a:cubicBezTo>
                  <a:lnTo>
                    <a:pt x="13072" y="271331"/>
                  </a:lnTo>
                  <a:cubicBezTo>
                    <a:pt x="5853" y="271331"/>
                    <a:pt x="0" y="265479"/>
                    <a:pt x="0" y="258259"/>
                  </a:cubicBezTo>
                  <a:lnTo>
                    <a:pt x="0" y="13072"/>
                  </a:lnTo>
                  <a:cubicBezTo>
                    <a:pt x="0" y="5853"/>
                    <a:pt x="5853" y="0"/>
                    <a:pt x="13072" y="0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2685658" cy="318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310066" y="282779"/>
            <a:ext cx="1949234" cy="598335"/>
            <a:chOff x="0" y="0"/>
            <a:chExt cx="883933" cy="27133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83933" cy="271331"/>
            </a:xfrm>
            <a:custGeom>
              <a:avLst/>
              <a:gdLst/>
              <a:ahLst/>
              <a:cxnLst/>
              <a:rect l="l" t="t" r="r" b="b"/>
              <a:pathLst>
                <a:path w="883933" h="271331">
                  <a:moveTo>
                    <a:pt x="39718" y="0"/>
                  </a:moveTo>
                  <a:lnTo>
                    <a:pt x="844215" y="0"/>
                  </a:lnTo>
                  <a:cubicBezTo>
                    <a:pt x="866151" y="0"/>
                    <a:pt x="883933" y="17782"/>
                    <a:pt x="883933" y="39718"/>
                  </a:cubicBezTo>
                  <a:lnTo>
                    <a:pt x="883933" y="231614"/>
                  </a:lnTo>
                  <a:cubicBezTo>
                    <a:pt x="883933" y="253549"/>
                    <a:pt x="866151" y="271331"/>
                    <a:pt x="844215" y="271331"/>
                  </a:cubicBezTo>
                  <a:lnTo>
                    <a:pt x="39718" y="271331"/>
                  </a:lnTo>
                  <a:cubicBezTo>
                    <a:pt x="29184" y="271331"/>
                    <a:pt x="19082" y="267147"/>
                    <a:pt x="11633" y="259698"/>
                  </a:cubicBezTo>
                  <a:cubicBezTo>
                    <a:pt x="4185" y="252250"/>
                    <a:pt x="0" y="242147"/>
                    <a:pt x="0" y="231614"/>
                  </a:cubicBezTo>
                  <a:lnTo>
                    <a:pt x="0" y="39718"/>
                  </a:lnTo>
                  <a:cubicBezTo>
                    <a:pt x="0" y="29184"/>
                    <a:pt x="4185" y="19082"/>
                    <a:pt x="11633" y="11633"/>
                  </a:cubicBezTo>
                  <a:cubicBezTo>
                    <a:pt x="19082" y="4185"/>
                    <a:pt x="29184" y="0"/>
                    <a:pt x="3971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883933" cy="318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620091" y="752763"/>
            <a:ext cx="6039362" cy="784098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6336"/>
              </a:lnSpc>
            </a:pPr>
            <a:endParaRPr sz="4600" b="1" dirty="0">
              <a:solidFill>
                <a:srgbClr val="D0FFE3"/>
              </a:solidFill>
              <a:latin typeface="Roboto Condense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028700" y="363507"/>
            <a:ext cx="4640513" cy="389256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sz="2200" b="1">
                <a:solidFill>
                  <a:srgbClr val="D2FFE7"/>
                </a:solidFill>
                <a:latin typeface="Roboto Condensed"/>
              </a:rPr>
              <a:t>RESTAUSTOCK IA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338452" y="400019"/>
            <a:ext cx="1309776" cy="31623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sz="1500">
                <a:solidFill>
                  <a:srgbClr val="F2F5FA"/>
                </a:solidFill>
                <a:latin typeface="Noto Sans"/>
              </a:rPr>
              <a:t>Express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530383" y="400019"/>
            <a:ext cx="1454024" cy="31623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sz="1500">
                <a:solidFill>
                  <a:srgbClr val="F2F5FA"/>
                </a:solidFill>
                <a:latin typeface="Noto Sans"/>
              </a:rPr>
              <a:t>PostgreSQL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535144" y="400019"/>
            <a:ext cx="1252571" cy="31623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sz="1500">
                <a:solidFill>
                  <a:srgbClr val="F2F5FA"/>
                </a:solidFill>
                <a:latin typeface="Noto Sans"/>
              </a:rPr>
              <a:t>Node.js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5611011" y="400019"/>
            <a:ext cx="1347345" cy="31623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sz="1500">
                <a:solidFill>
                  <a:srgbClr val="14191E"/>
                </a:solidFill>
                <a:latin typeface="Noto Sans"/>
              </a:rPr>
              <a:t>UTEQ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28700" y="8805484"/>
            <a:ext cx="4076700" cy="111801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endParaRPr lang="es-MX" sz="1400" dirty="0">
              <a:solidFill>
                <a:srgbClr val="F0F0F5"/>
              </a:solidFill>
              <a:latin typeface="Noto Sans"/>
            </a:endParaRPr>
          </a:p>
        </p:txBody>
      </p:sp>
      <p:pic>
        <p:nvPicPr>
          <p:cNvPr id="44" name="Imagen 43">
            <a:extLst>
              <a:ext uri="{FF2B5EF4-FFF2-40B4-BE49-F238E27FC236}">
                <a16:creationId xmlns:a16="http://schemas.microsoft.com/office/drawing/2014/main" id="{147EAFFF-F935-4E37-8D41-7C7CD12F9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865" y="1536861"/>
            <a:ext cx="16501156" cy="6273639"/>
          </a:xfrm>
          <a:prstGeom prst="rect">
            <a:avLst/>
          </a:prstGeom>
        </p:spPr>
      </p:pic>
      <p:sp>
        <p:nvSpPr>
          <p:cNvPr id="48" name="CuadroTexto 47">
            <a:extLst>
              <a:ext uri="{FF2B5EF4-FFF2-40B4-BE49-F238E27FC236}">
                <a16:creationId xmlns:a16="http://schemas.microsoft.com/office/drawing/2014/main" id="{6AEAE103-DEDB-4E75-A11D-90C7AE1F0693}"/>
              </a:ext>
            </a:extLst>
          </p:cNvPr>
          <p:cNvSpPr txBox="1"/>
          <p:nvPr/>
        </p:nvSpPr>
        <p:spPr>
          <a:xfrm>
            <a:off x="321648" y="8050748"/>
            <a:ext cx="560562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</a:rPr>
              <a:t>RESPALDO MANUAL</a:t>
            </a:r>
          </a:p>
          <a:p>
            <a:r>
              <a:rPr lang="es-MX" sz="2400" dirty="0">
                <a:solidFill>
                  <a:schemeClr val="bg1"/>
                </a:solidFill>
              </a:rPr>
              <a:t>Generación inmediata de archivos .</a:t>
            </a:r>
            <a:r>
              <a:rPr lang="es-MX" sz="2400" dirty="0" err="1">
                <a:solidFill>
                  <a:schemeClr val="bg1"/>
                </a:solidFill>
              </a:rPr>
              <a:t>backup</a:t>
            </a:r>
            <a:r>
              <a:rPr lang="es-MX" sz="2400" dirty="0">
                <a:solidFill>
                  <a:schemeClr val="bg1"/>
                </a:solidFill>
              </a:rPr>
              <a:t>.</a:t>
            </a:r>
            <a:endParaRPr lang="es-EC" sz="2400" dirty="0">
              <a:solidFill>
                <a:schemeClr val="bg1"/>
              </a:solidFill>
            </a:endParaRP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6BFD4876-F64E-4467-8F7F-B573DCF10778}"/>
              </a:ext>
            </a:extLst>
          </p:cNvPr>
          <p:cNvSpPr txBox="1"/>
          <p:nvPr/>
        </p:nvSpPr>
        <p:spPr>
          <a:xfrm>
            <a:off x="9144000" y="7994433"/>
            <a:ext cx="560562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MX" b="1" dirty="0"/>
              <a:t>PROGRAMACIÓN AUTOMATICA</a:t>
            </a:r>
            <a:br>
              <a:rPr lang="es-MX" dirty="0"/>
            </a:br>
            <a:r>
              <a:rPr lang="es-MX" dirty="0"/>
              <a:t>Registro de fecha, archivo, tamaño y estado.</a:t>
            </a:r>
            <a:endParaRPr lang="es-EC" dirty="0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B606C3BA-10A6-4BDC-928E-24B27C7BD2FA}"/>
              </a:ext>
            </a:extLst>
          </p:cNvPr>
          <p:cNvSpPr txBox="1"/>
          <p:nvPr/>
        </p:nvSpPr>
        <p:spPr>
          <a:xfrm>
            <a:off x="452916" y="8946702"/>
            <a:ext cx="123125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s-MX" dirty="0"/>
              <a:t>Descripción:</a:t>
            </a:r>
            <a:br>
              <a:rPr lang="es-MX" dirty="0"/>
            </a:br>
            <a:r>
              <a:rPr lang="es-MX" b="0" dirty="0"/>
              <a:t>El módulo permite generar, programar y verificar copias de seguridad de la base de datos PostgreSQL directamente desde la aplicación.</a:t>
            </a:r>
            <a:endParaRPr lang="es-EC" b="0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2A32F6A3-FFC8-4A80-8DE0-7CDAD1210E55}"/>
              </a:ext>
            </a:extLst>
          </p:cNvPr>
          <p:cNvSpPr txBox="1"/>
          <p:nvPr/>
        </p:nvSpPr>
        <p:spPr>
          <a:xfrm>
            <a:off x="974362" y="760091"/>
            <a:ext cx="9144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sz="4400" b="1" dirty="0">
                <a:solidFill>
                  <a:schemeClr val="bg1"/>
                </a:solidFill>
              </a:rPr>
              <a:t>RESPALDO MANUAL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28122" y="282779"/>
            <a:ext cx="5922367" cy="598335"/>
            <a:chOff x="0" y="0"/>
            <a:chExt cx="2685658" cy="2713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85658" cy="271331"/>
            </a:xfrm>
            <a:custGeom>
              <a:avLst/>
              <a:gdLst/>
              <a:ahLst/>
              <a:cxnLst/>
              <a:rect l="l" t="t" r="r" b="b"/>
              <a:pathLst>
                <a:path w="2685658" h="271331">
                  <a:moveTo>
                    <a:pt x="13072" y="0"/>
                  </a:moveTo>
                  <a:lnTo>
                    <a:pt x="2672586" y="0"/>
                  </a:lnTo>
                  <a:cubicBezTo>
                    <a:pt x="2679805" y="0"/>
                    <a:pt x="2685658" y="5853"/>
                    <a:pt x="2685658" y="13072"/>
                  </a:cubicBezTo>
                  <a:lnTo>
                    <a:pt x="2685658" y="258259"/>
                  </a:lnTo>
                  <a:cubicBezTo>
                    <a:pt x="2685658" y="265479"/>
                    <a:pt x="2679805" y="271331"/>
                    <a:pt x="2672586" y="271331"/>
                  </a:cubicBezTo>
                  <a:lnTo>
                    <a:pt x="13072" y="271331"/>
                  </a:lnTo>
                  <a:cubicBezTo>
                    <a:pt x="5853" y="271331"/>
                    <a:pt x="0" y="265479"/>
                    <a:pt x="0" y="258259"/>
                  </a:cubicBezTo>
                  <a:lnTo>
                    <a:pt x="0" y="13072"/>
                  </a:lnTo>
                  <a:cubicBezTo>
                    <a:pt x="0" y="5853"/>
                    <a:pt x="5853" y="0"/>
                    <a:pt x="13072" y="0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685658" cy="318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310066" y="282779"/>
            <a:ext cx="1949234" cy="598335"/>
            <a:chOff x="0" y="0"/>
            <a:chExt cx="883933" cy="2713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83933" cy="271331"/>
            </a:xfrm>
            <a:custGeom>
              <a:avLst/>
              <a:gdLst/>
              <a:ahLst/>
              <a:cxnLst/>
              <a:rect l="l" t="t" r="r" b="b"/>
              <a:pathLst>
                <a:path w="883933" h="271331">
                  <a:moveTo>
                    <a:pt x="39718" y="0"/>
                  </a:moveTo>
                  <a:lnTo>
                    <a:pt x="844215" y="0"/>
                  </a:lnTo>
                  <a:cubicBezTo>
                    <a:pt x="866151" y="0"/>
                    <a:pt x="883933" y="17782"/>
                    <a:pt x="883933" y="39718"/>
                  </a:cubicBezTo>
                  <a:lnTo>
                    <a:pt x="883933" y="231614"/>
                  </a:lnTo>
                  <a:cubicBezTo>
                    <a:pt x="883933" y="253549"/>
                    <a:pt x="866151" y="271331"/>
                    <a:pt x="844215" y="271331"/>
                  </a:cubicBezTo>
                  <a:lnTo>
                    <a:pt x="39718" y="271331"/>
                  </a:lnTo>
                  <a:cubicBezTo>
                    <a:pt x="29184" y="271331"/>
                    <a:pt x="19082" y="267147"/>
                    <a:pt x="11633" y="259698"/>
                  </a:cubicBezTo>
                  <a:cubicBezTo>
                    <a:pt x="4185" y="252250"/>
                    <a:pt x="0" y="242147"/>
                    <a:pt x="0" y="231614"/>
                  </a:cubicBezTo>
                  <a:lnTo>
                    <a:pt x="0" y="39718"/>
                  </a:lnTo>
                  <a:cubicBezTo>
                    <a:pt x="0" y="29184"/>
                    <a:pt x="4185" y="19082"/>
                    <a:pt x="11633" y="11633"/>
                  </a:cubicBezTo>
                  <a:cubicBezTo>
                    <a:pt x="19082" y="4185"/>
                    <a:pt x="29184" y="0"/>
                    <a:pt x="3971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883933" cy="318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880399" y="1870148"/>
            <a:ext cx="6073011" cy="6546704"/>
            <a:chOff x="0" y="0"/>
            <a:chExt cx="940868" cy="101425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40868" cy="1014256"/>
            </a:xfrm>
            <a:custGeom>
              <a:avLst/>
              <a:gdLst/>
              <a:ahLst/>
              <a:cxnLst/>
              <a:rect l="l" t="t" r="r" b="b"/>
              <a:pathLst>
                <a:path w="940868" h="1014256">
                  <a:moveTo>
                    <a:pt x="38244" y="0"/>
                  </a:moveTo>
                  <a:lnTo>
                    <a:pt x="902624" y="0"/>
                  </a:lnTo>
                  <a:cubicBezTo>
                    <a:pt x="923746" y="0"/>
                    <a:pt x="940868" y="17123"/>
                    <a:pt x="940868" y="38244"/>
                  </a:cubicBezTo>
                  <a:lnTo>
                    <a:pt x="940868" y="976012"/>
                  </a:lnTo>
                  <a:cubicBezTo>
                    <a:pt x="940868" y="986155"/>
                    <a:pt x="936839" y="995882"/>
                    <a:pt x="929667" y="1003054"/>
                  </a:cubicBezTo>
                  <a:cubicBezTo>
                    <a:pt x="922495" y="1010226"/>
                    <a:pt x="912767" y="1014256"/>
                    <a:pt x="902624" y="1014256"/>
                  </a:cubicBezTo>
                  <a:lnTo>
                    <a:pt x="38244" y="1014256"/>
                  </a:lnTo>
                  <a:cubicBezTo>
                    <a:pt x="28101" y="1014256"/>
                    <a:pt x="18374" y="1010226"/>
                    <a:pt x="11201" y="1003054"/>
                  </a:cubicBezTo>
                  <a:cubicBezTo>
                    <a:pt x="4029" y="995882"/>
                    <a:pt x="0" y="986155"/>
                    <a:pt x="0" y="976012"/>
                  </a:cubicBezTo>
                  <a:lnTo>
                    <a:pt x="0" y="38244"/>
                  </a:lnTo>
                  <a:cubicBezTo>
                    <a:pt x="0" y="28101"/>
                    <a:pt x="4029" y="18374"/>
                    <a:pt x="11201" y="11201"/>
                  </a:cubicBezTo>
                  <a:cubicBezTo>
                    <a:pt x="18374" y="4029"/>
                    <a:pt x="28101" y="0"/>
                    <a:pt x="38244" y="0"/>
                  </a:cubicBezTo>
                  <a:close/>
                </a:path>
              </a:pathLst>
            </a:custGeom>
            <a:blipFill>
              <a:blip r:embed="rId2"/>
              <a:stretch>
                <a:fillRect l="-53687" r="-7810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 rot="-622087">
            <a:off x="14152846" y="1870148"/>
            <a:ext cx="6009960" cy="6546704"/>
            <a:chOff x="0" y="0"/>
            <a:chExt cx="1582870" cy="172423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82870" cy="1724235"/>
            </a:xfrm>
            <a:custGeom>
              <a:avLst/>
              <a:gdLst/>
              <a:ahLst/>
              <a:cxnLst/>
              <a:rect l="l" t="t" r="r" b="b"/>
              <a:pathLst>
                <a:path w="1582870" h="1724235">
                  <a:moveTo>
                    <a:pt x="51527" y="0"/>
                  </a:moveTo>
                  <a:lnTo>
                    <a:pt x="1531343" y="0"/>
                  </a:lnTo>
                  <a:cubicBezTo>
                    <a:pt x="1559801" y="0"/>
                    <a:pt x="1582870" y="23070"/>
                    <a:pt x="1582870" y="51527"/>
                  </a:cubicBezTo>
                  <a:lnTo>
                    <a:pt x="1582870" y="1672707"/>
                  </a:lnTo>
                  <a:cubicBezTo>
                    <a:pt x="1582870" y="1701165"/>
                    <a:pt x="1559801" y="1724235"/>
                    <a:pt x="1531343" y="1724235"/>
                  </a:cubicBezTo>
                  <a:lnTo>
                    <a:pt x="51527" y="1724235"/>
                  </a:lnTo>
                  <a:cubicBezTo>
                    <a:pt x="23070" y="1724235"/>
                    <a:pt x="0" y="1701165"/>
                    <a:pt x="0" y="1672707"/>
                  </a:cubicBezTo>
                  <a:lnTo>
                    <a:pt x="0" y="51527"/>
                  </a:lnTo>
                  <a:cubicBezTo>
                    <a:pt x="0" y="23070"/>
                    <a:pt x="23070" y="0"/>
                    <a:pt x="51527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582870" cy="17718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8700" y="1774898"/>
            <a:ext cx="7295612" cy="821055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sz="4400" b="1">
                <a:solidFill>
                  <a:srgbClr val="D0FFE3"/>
                </a:solidFill>
                <a:latin typeface="Roboto Condensed"/>
              </a:rPr>
              <a:t>OPTIMIZACIÓN E ÍNDICES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4391099"/>
            <a:ext cx="3982094" cy="1372634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s-MX" sz="2000" dirty="0">
                <a:solidFill>
                  <a:srgbClr val="F0F0F5"/>
                </a:solidFill>
                <a:latin typeface="Noto Sans"/>
              </a:rPr>
              <a:t>Se evaluó una consulta sobre pedidos utilizando EXPLAIN ANALYZE para identificar su costo y tiempo de ejecución.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7885667"/>
            <a:ext cx="3982094" cy="1372634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s-MX" sz="2000" dirty="0">
                <a:solidFill>
                  <a:srgbClr val="F0F0F5"/>
                </a:solidFill>
                <a:latin typeface="Noto Sans"/>
              </a:rPr>
              <a:t>Se comparó el plan de ejecución antes y después de aplicar el índice, verificando la reducción del costo y del tiempo de respuesta</a:t>
            </a:r>
            <a:r>
              <a:rPr lang="es-MX" sz="1400" dirty="0">
                <a:solidFill>
                  <a:srgbClr val="F0F0F5"/>
                </a:solidFill>
                <a:latin typeface="Noto Sans"/>
              </a:rPr>
              <a:t>.</a:t>
            </a:r>
            <a:endParaRPr sz="1400" dirty="0">
              <a:solidFill>
                <a:srgbClr val="F0F0F5"/>
              </a:solidFill>
              <a:latin typeface="Noto Sa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689726" y="4391099"/>
            <a:ext cx="3982094" cy="1293089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s-MX" sz="2000" dirty="0">
                <a:solidFill>
                  <a:srgbClr val="F0F0F5"/>
                </a:solidFill>
                <a:latin typeface="Noto Sans"/>
              </a:rPr>
              <a:t>Se implementaron índices sobre campos utilizados frecuentemente en búsquedas y filtros, como fecha, estado e identificadores relacionados.</a:t>
            </a:r>
            <a:endParaRPr sz="2000" dirty="0">
              <a:solidFill>
                <a:srgbClr val="F0F0F5"/>
              </a:solidFill>
              <a:latin typeface="Noto Sa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752719" y="7833457"/>
            <a:ext cx="3982094" cy="160796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s-MX" sz="2000" dirty="0">
                <a:solidFill>
                  <a:srgbClr val="F0F0F5"/>
                </a:solidFill>
                <a:latin typeface="Noto Sans"/>
              </a:rPr>
              <a:t>El uso de índices permite optimizar las consultas frecuentes y mejorar el rendimiento de PostgreSQL, especialmente al trabajar con grandes volúmenes de registros.</a:t>
            </a:r>
            <a:endParaRPr sz="2000" dirty="0">
              <a:solidFill>
                <a:srgbClr val="F0F0F5"/>
              </a:solidFill>
              <a:latin typeface="Noto San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28700" y="3627918"/>
            <a:ext cx="2539868" cy="448310"/>
          </a:xfrm>
          <a:prstGeom prst="rect">
            <a:avLst/>
          </a:prstGeom>
        </p:spPr>
        <p:txBody>
          <a:bodyPr wrap="square" lIns="0" tIns="0" rIns="0" bIns="0" rtlCol="0" anchor="t">
            <a:normAutofit fontScale="92500"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sz="2200" b="1">
                <a:solidFill>
                  <a:srgbClr val="D2FFE7"/>
                </a:solidFill>
                <a:latin typeface="Noto Sans"/>
              </a:rPr>
              <a:t>01. Consulta crítica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7122485"/>
            <a:ext cx="2539868" cy="44831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sz="2200" b="1">
                <a:solidFill>
                  <a:srgbClr val="D2FFE7"/>
                </a:solidFill>
                <a:latin typeface="Noto Sans"/>
              </a:rPr>
              <a:t>03. Comparación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752719" y="3627918"/>
            <a:ext cx="2539868" cy="448310"/>
          </a:xfrm>
          <a:prstGeom prst="rect">
            <a:avLst/>
          </a:prstGeom>
        </p:spPr>
        <p:txBody>
          <a:bodyPr wrap="square" lIns="0" tIns="0" rIns="0" bIns="0" rtlCol="0" anchor="t">
            <a:normAutofit fontScale="92500"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sz="2200" b="1">
                <a:solidFill>
                  <a:srgbClr val="D2FFE7"/>
                </a:solidFill>
                <a:latin typeface="Noto Sans"/>
              </a:rPr>
              <a:t>02. Índice aplicado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752719" y="7122485"/>
            <a:ext cx="2539868" cy="44831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sz="2200" b="1" dirty="0">
                <a:solidFill>
                  <a:srgbClr val="D2FFE7"/>
                </a:solidFill>
                <a:latin typeface="Noto Sans"/>
              </a:rPr>
              <a:t>04. </a:t>
            </a:r>
            <a:r>
              <a:rPr lang="es-MX" sz="2200" b="1" dirty="0">
                <a:solidFill>
                  <a:srgbClr val="D2FFE7"/>
                </a:solidFill>
                <a:latin typeface="Noto Sans"/>
              </a:rPr>
              <a:t>Resultado</a:t>
            </a:r>
            <a:endParaRPr sz="2200" b="1" dirty="0">
              <a:solidFill>
                <a:srgbClr val="D2FFE7"/>
              </a:solidFill>
              <a:latin typeface="Noto San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028700" y="363507"/>
            <a:ext cx="4640513" cy="389256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sz="2200" b="1">
                <a:solidFill>
                  <a:srgbClr val="D2FFE7"/>
                </a:solidFill>
                <a:latin typeface="Roboto Condensed"/>
              </a:rPr>
              <a:t>RESTAUSTOCK IA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338452" y="400019"/>
            <a:ext cx="1309776" cy="31623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sz="1500">
                <a:solidFill>
                  <a:srgbClr val="F2F5FA"/>
                </a:solidFill>
                <a:latin typeface="Noto Sans"/>
              </a:rPr>
              <a:t>Express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530383" y="400019"/>
            <a:ext cx="1454024" cy="31623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sz="1500">
                <a:solidFill>
                  <a:srgbClr val="F2F5FA"/>
                </a:solidFill>
                <a:latin typeface="Noto Sans"/>
              </a:rPr>
              <a:t>PostgreSQL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535144" y="400019"/>
            <a:ext cx="1252571" cy="31623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sz="1500">
                <a:solidFill>
                  <a:srgbClr val="F2F5FA"/>
                </a:solidFill>
                <a:latin typeface="Noto Sans"/>
              </a:rPr>
              <a:t>Node.js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611011" y="400019"/>
            <a:ext cx="1347345" cy="31623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sz="1500">
                <a:solidFill>
                  <a:srgbClr val="14191E"/>
                </a:solidFill>
                <a:latin typeface="Noto Sans"/>
              </a:rPr>
              <a:t>UTEQ</a:t>
            </a:r>
          </a:p>
        </p:txBody>
      </p:sp>
      <p:pic>
        <p:nvPicPr>
          <p:cNvPr id="27" name="Picture 26" descr="opt_sq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5920" y="2011680"/>
            <a:ext cx="457200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28122" y="282779"/>
            <a:ext cx="5922367" cy="598335"/>
            <a:chOff x="0" y="0"/>
            <a:chExt cx="2685658" cy="2713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85658" cy="271331"/>
            </a:xfrm>
            <a:custGeom>
              <a:avLst/>
              <a:gdLst/>
              <a:ahLst/>
              <a:cxnLst/>
              <a:rect l="l" t="t" r="r" b="b"/>
              <a:pathLst>
                <a:path w="2685658" h="271331">
                  <a:moveTo>
                    <a:pt x="13072" y="0"/>
                  </a:moveTo>
                  <a:lnTo>
                    <a:pt x="2672586" y="0"/>
                  </a:lnTo>
                  <a:cubicBezTo>
                    <a:pt x="2679805" y="0"/>
                    <a:pt x="2685658" y="5853"/>
                    <a:pt x="2685658" y="13072"/>
                  </a:cubicBezTo>
                  <a:lnTo>
                    <a:pt x="2685658" y="258259"/>
                  </a:lnTo>
                  <a:cubicBezTo>
                    <a:pt x="2685658" y="265479"/>
                    <a:pt x="2679805" y="271331"/>
                    <a:pt x="2672586" y="271331"/>
                  </a:cubicBezTo>
                  <a:lnTo>
                    <a:pt x="13072" y="271331"/>
                  </a:lnTo>
                  <a:cubicBezTo>
                    <a:pt x="5853" y="271331"/>
                    <a:pt x="0" y="265479"/>
                    <a:pt x="0" y="258259"/>
                  </a:cubicBezTo>
                  <a:lnTo>
                    <a:pt x="0" y="13072"/>
                  </a:lnTo>
                  <a:cubicBezTo>
                    <a:pt x="0" y="5853"/>
                    <a:pt x="5853" y="0"/>
                    <a:pt x="13072" y="0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685658" cy="318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310066" y="282779"/>
            <a:ext cx="1949234" cy="598335"/>
            <a:chOff x="0" y="0"/>
            <a:chExt cx="883933" cy="2713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83933" cy="271331"/>
            </a:xfrm>
            <a:custGeom>
              <a:avLst/>
              <a:gdLst/>
              <a:ahLst/>
              <a:cxnLst/>
              <a:rect l="l" t="t" r="r" b="b"/>
              <a:pathLst>
                <a:path w="883933" h="271331">
                  <a:moveTo>
                    <a:pt x="39718" y="0"/>
                  </a:moveTo>
                  <a:lnTo>
                    <a:pt x="844215" y="0"/>
                  </a:lnTo>
                  <a:cubicBezTo>
                    <a:pt x="866151" y="0"/>
                    <a:pt x="883933" y="17782"/>
                    <a:pt x="883933" y="39718"/>
                  </a:cubicBezTo>
                  <a:lnTo>
                    <a:pt x="883933" y="231614"/>
                  </a:lnTo>
                  <a:cubicBezTo>
                    <a:pt x="883933" y="253549"/>
                    <a:pt x="866151" y="271331"/>
                    <a:pt x="844215" y="271331"/>
                  </a:cubicBezTo>
                  <a:lnTo>
                    <a:pt x="39718" y="271331"/>
                  </a:lnTo>
                  <a:cubicBezTo>
                    <a:pt x="29184" y="271331"/>
                    <a:pt x="19082" y="267147"/>
                    <a:pt x="11633" y="259698"/>
                  </a:cubicBezTo>
                  <a:cubicBezTo>
                    <a:pt x="4185" y="252250"/>
                    <a:pt x="0" y="242147"/>
                    <a:pt x="0" y="231614"/>
                  </a:cubicBezTo>
                  <a:lnTo>
                    <a:pt x="0" y="39718"/>
                  </a:lnTo>
                  <a:cubicBezTo>
                    <a:pt x="0" y="29184"/>
                    <a:pt x="4185" y="19082"/>
                    <a:pt x="11633" y="11633"/>
                  </a:cubicBezTo>
                  <a:cubicBezTo>
                    <a:pt x="19082" y="4185"/>
                    <a:pt x="29184" y="0"/>
                    <a:pt x="3971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883933" cy="318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1969221"/>
            <a:ext cx="6890135" cy="8552935"/>
            <a:chOff x="0" y="0"/>
            <a:chExt cx="1067462" cy="132507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67462" cy="1325073"/>
            </a:xfrm>
            <a:custGeom>
              <a:avLst/>
              <a:gdLst/>
              <a:ahLst/>
              <a:cxnLst/>
              <a:rect l="l" t="t" r="r" b="b"/>
              <a:pathLst>
                <a:path w="1067462" h="1325073">
                  <a:moveTo>
                    <a:pt x="25843" y="0"/>
                  </a:moveTo>
                  <a:lnTo>
                    <a:pt x="1041619" y="0"/>
                  </a:lnTo>
                  <a:cubicBezTo>
                    <a:pt x="1055892" y="0"/>
                    <a:pt x="1067462" y="11570"/>
                    <a:pt x="1067462" y="25843"/>
                  </a:cubicBezTo>
                  <a:lnTo>
                    <a:pt x="1067462" y="1299230"/>
                  </a:lnTo>
                  <a:cubicBezTo>
                    <a:pt x="1067462" y="1313503"/>
                    <a:pt x="1055892" y="1325073"/>
                    <a:pt x="1041619" y="1325073"/>
                  </a:cubicBezTo>
                  <a:lnTo>
                    <a:pt x="25843" y="1325073"/>
                  </a:lnTo>
                  <a:cubicBezTo>
                    <a:pt x="11570" y="1325073"/>
                    <a:pt x="0" y="1313503"/>
                    <a:pt x="0" y="1299230"/>
                  </a:cubicBezTo>
                  <a:lnTo>
                    <a:pt x="0" y="25843"/>
                  </a:lnTo>
                  <a:cubicBezTo>
                    <a:pt x="0" y="11570"/>
                    <a:pt x="11570" y="0"/>
                    <a:pt x="25843" y="0"/>
                  </a:cubicBezTo>
                  <a:close/>
                </a:path>
              </a:pathLst>
            </a:custGeom>
            <a:blipFill>
              <a:blip r:embed="rId2"/>
              <a:stretch>
                <a:fillRect l="-43099" r="-43099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5050489" y="1200854"/>
            <a:ext cx="2762388" cy="2762388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4460" y="0"/>
                  </a:moveTo>
                  <a:lnTo>
                    <a:pt x="748340" y="0"/>
                  </a:lnTo>
                  <a:cubicBezTo>
                    <a:pt x="783940" y="0"/>
                    <a:pt x="812800" y="28860"/>
                    <a:pt x="812800" y="64460"/>
                  </a:cubicBezTo>
                  <a:lnTo>
                    <a:pt x="812800" y="748340"/>
                  </a:lnTo>
                  <a:cubicBezTo>
                    <a:pt x="812800" y="783940"/>
                    <a:pt x="783940" y="812800"/>
                    <a:pt x="748340" y="812800"/>
                  </a:cubicBezTo>
                  <a:lnTo>
                    <a:pt x="64460" y="812800"/>
                  </a:lnTo>
                  <a:cubicBezTo>
                    <a:pt x="28860" y="812800"/>
                    <a:pt x="0" y="783940"/>
                    <a:pt x="0" y="748340"/>
                  </a:cubicBezTo>
                  <a:lnTo>
                    <a:pt x="0" y="64460"/>
                  </a:lnTo>
                  <a:cubicBezTo>
                    <a:pt x="0" y="28860"/>
                    <a:pt x="28860" y="0"/>
                    <a:pt x="64460" y="0"/>
                  </a:cubicBezTo>
                  <a:close/>
                </a:path>
              </a:pathLst>
            </a:custGeom>
            <a:blipFill>
              <a:blip r:embed="rId3"/>
              <a:stretch>
                <a:fillRect l="-34786" r="-4365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9273622" y="4370728"/>
            <a:ext cx="8129659" cy="4715418"/>
            <a:chOff x="0" y="0"/>
            <a:chExt cx="2141145" cy="62935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41145" cy="629354"/>
            </a:xfrm>
            <a:custGeom>
              <a:avLst/>
              <a:gdLst/>
              <a:ahLst/>
              <a:cxnLst/>
              <a:rect l="l" t="t" r="r" b="b"/>
              <a:pathLst>
                <a:path w="2141145" h="629354">
                  <a:moveTo>
                    <a:pt x="21903" y="0"/>
                  </a:moveTo>
                  <a:lnTo>
                    <a:pt x="2119242" y="0"/>
                  </a:lnTo>
                  <a:cubicBezTo>
                    <a:pt x="2131338" y="0"/>
                    <a:pt x="2141145" y="9806"/>
                    <a:pt x="2141145" y="21903"/>
                  </a:cubicBezTo>
                  <a:lnTo>
                    <a:pt x="2141145" y="607451"/>
                  </a:lnTo>
                  <a:cubicBezTo>
                    <a:pt x="2141145" y="619548"/>
                    <a:pt x="2131338" y="629354"/>
                    <a:pt x="2119242" y="629354"/>
                  </a:cubicBezTo>
                  <a:lnTo>
                    <a:pt x="21903" y="629354"/>
                  </a:lnTo>
                  <a:cubicBezTo>
                    <a:pt x="9806" y="629354"/>
                    <a:pt x="0" y="619548"/>
                    <a:pt x="0" y="607451"/>
                  </a:cubicBezTo>
                  <a:lnTo>
                    <a:pt x="0" y="21903"/>
                  </a:lnTo>
                  <a:cubicBezTo>
                    <a:pt x="0" y="9806"/>
                    <a:pt x="9806" y="0"/>
                    <a:pt x="2190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141145" cy="6769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530382" y="2780554"/>
            <a:ext cx="4848717" cy="134030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9971"/>
              </a:lnSpc>
            </a:pPr>
            <a:r>
              <a:rPr sz="5000" b="1" dirty="0">
                <a:solidFill>
                  <a:srgbClr val="D2FFE7"/>
                </a:solidFill>
                <a:latin typeface="Roboto Condensed"/>
              </a:rPr>
              <a:t>CONCLUSIONES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363507"/>
            <a:ext cx="4640513" cy="389256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sz="2200" b="1">
                <a:solidFill>
                  <a:srgbClr val="D2FFE7"/>
                </a:solidFill>
                <a:latin typeface="Roboto Condensed"/>
              </a:rPr>
              <a:t>RESTAUSTOCK IA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338452" y="400019"/>
            <a:ext cx="1309776" cy="31623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sz="1500">
                <a:solidFill>
                  <a:srgbClr val="F2F5FA"/>
                </a:solidFill>
                <a:latin typeface="Noto Sans"/>
              </a:rPr>
              <a:t>Express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530383" y="400019"/>
            <a:ext cx="1454024" cy="31623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sz="1500">
                <a:solidFill>
                  <a:srgbClr val="F2F5FA"/>
                </a:solidFill>
                <a:latin typeface="Noto Sans"/>
              </a:rPr>
              <a:t>PostgreSQL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535144" y="400019"/>
            <a:ext cx="1252571" cy="31623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sz="1500">
                <a:solidFill>
                  <a:srgbClr val="F2F5FA"/>
                </a:solidFill>
                <a:latin typeface="Noto Sans"/>
              </a:rPr>
              <a:t>Node.js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611011" y="400019"/>
            <a:ext cx="1347345" cy="31623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sz="1500">
                <a:solidFill>
                  <a:srgbClr val="14191E"/>
                </a:solidFill>
                <a:latin typeface="Noto Sans"/>
              </a:rPr>
              <a:t>UTEQ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43F70F15-215A-4D5C-9114-69EEA4DD43F4}"/>
              </a:ext>
            </a:extLst>
          </p:cNvPr>
          <p:cNvSpPr txBox="1"/>
          <p:nvPr/>
        </p:nvSpPr>
        <p:spPr>
          <a:xfrm>
            <a:off x="9530382" y="4681288"/>
            <a:ext cx="772891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/>
              <a:t>• Se logró integrar una aplicación web funcional con PostgreSQL, aplicando administración de usuarios, roles y permisos para controlar el acceso a cada módulo.</a:t>
            </a:r>
          </a:p>
          <a:p>
            <a:r>
              <a:rPr lang="es-MX" sz="2400" dirty="0"/>
              <a:t>• Se implementaron mecanismos de auditoría, respaldos y optimización mediante índices, fortaleciendo la seguridad, disponibilidad y rendimiento de la base de datos.</a:t>
            </a:r>
          </a:p>
          <a:p>
            <a:r>
              <a:rPr lang="es-MX" sz="2400" dirty="0"/>
              <a:t>• El proyecto permitió aplicar de forma práctica los conocimientos de Administración de Bases de Datos en un sistema real, dejando como mejora futura ampliar la automatización, el análisis de información y las funciones de IA</a:t>
            </a:r>
            <a:r>
              <a:rPr lang="es-MX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1036</Words>
  <Application>Microsoft Office PowerPoint</Application>
  <PresentationFormat>Personalizado</PresentationFormat>
  <Paragraphs>139</Paragraphs>
  <Slides>11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Calibri</vt:lpstr>
      <vt:lpstr>Noto Sans</vt:lpstr>
      <vt:lpstr>Arial Unicode MS</vt:lpstr>
      <vt:lpstr>Roboto Condensed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Modern Technology Presentation</dc:title>
  <dc:creator>Game Over</dc:creator>
  <cp:lastModifiedBy>Mishell</cp:lastModifiedBy>
  <cp:revision>14</cp:revision>
  <dcterms:created xsi:type="dcterms:W3CDTF">2006-08-16T00:00:00Z</dcterms:created>
  <dcterms:modified xsi:type="dcterms:W3CDTF">2026-09-09T13:28:25Z</dcterms:modified>
  <dc:identifier>DAHUp1Cr4X4</dc:identifier>
</cp:coreProperties>
</file>